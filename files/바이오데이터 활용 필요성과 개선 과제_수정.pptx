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8"/>
    <p:restoredTop sz="72975"/>
  </p:normalViewPr>
  <p:slideViewPr>
    <p:cSldViewPr snapToGrid="0" snapToObjects="1">
      <p:cViewPr>
        <p:scale>
          <a:sx n="86" d="100"/>
          <a:sy n="86" d="100"/>
        </p:scale>
        <p:origin x="1808" y="2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-12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>
        <p:scale>
          <a:sx n="97" d="100"/>
          <a:sy n="97" d="100"/>
        </p:scale>
        <p:origin x="397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8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20초] </a:t>
            </a:r>
          </a:p>
          <a:p>
            <a:r>
              <a:rPr lang="en-US" dirty="0" err="1"/>
              <a:t>안녕하십니까</a:t>
            </a:r>
            <a:r>
              <a:rPr lang="en-US" dirty="0"/>
              <a:t>. </a:t>
            </a:r>
          </a:p>
          <a:p>
            <a:r>
              <a:rPr lang="en-US" dirty="0" err="1"/>
              <a:t>한양대학교</a:t>
            </a:r>
            <a:r>
              <a:rPr lang="en-US" dirty="0"/>
              <a:t> </a:t>
            </a:r>
            <a:r>
              <a:rPr lang="ko-KR" altLang="en-US" dirty="0"/>
              <a:t>생명과학과 </a:t>
            </a:r>
            <a:r>
              <a:rPr lang="en-US" dirty="0" err="1"/>
              <a:t>남진우입니다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오늘은</a:t>
            </a:r>
            <a:r>
              <a:rPr lang="en-US" dirty="0"/>
              <a:t> AI 바이오 연구와 신약개발 현장에서 데이터를 직접 </a:t>
            </a:r>
            <a:r>
              <a:rPr lang="en-US" dirty="0" err="1"/>
              <a:t>신청하고</a:t>
            </a:r>
            <a:r>
              <a:rPr lang="en-US" dirty="0"/>
              <a:t> </a:t>
            </a:r>
            <a:r>
              <a:rPr lang="ko-KR" altLang="en-US" dirty="0"/>
              <a:t>사용해</a:t>
            </a:r>
            <a:r>
              <a:rPr lang="en-US" dirty="0"/>
              <a:t> 본 </a:t>
            </a:r>
            <a:r>
              <a:rPr lang="en-US" dirty="0" err="1"/>
              <a:t>연구자의</a:t>
            </a:r>
            <a:r>
              <a:rPr lang="en-US" dirty="0"/>
              <a:t> </a:t>
            </a:r>
            <a:r>
              <a:rPr lang="en-US" dirty="0" err="1"/>
              <a:t>입장에서</a:t>
            </a:r>
            <a:r>
              <a:rPr lang="en-US" altLang="ko-KR" dirty="0"/>
              <a:t>,</a:t>
            </a:r>
            <a:r>
              <a:rPr lang="ko-KR" altLang="en-US" dirty="0"/>
              <a:t> 그리고 신약개발 가속화하기 위한 </a:t>
            </a:r>
            <a:r>
              <a:rPr lang="en-US" altLang="ko-KR" dirty="0"/>
              <a:t>AI</a:t>
            </a:r>
            <a:r>
              <a:rPr lang="ko-KR" altLang="en-US" dirty="0"/>
              <a:t>신약 미션 </a:t>
            </a:r>
            <a:r>
              <a:rPr lang="en-US" altLang="ko-KR" dirty="0"/>
              <a:t>PD</a:t>
            </a:r>
            <a:r>
              <a:rPr lang="ko-KR" altLang="en-US" dirty="0"/>
              <a:t>의 입장에서</a:t>
            </a:r>
            <a:r>
              <a:rPr lang="en-US" dirty="0"/>
              <a:t> </a:t>
            </a:r>
            <a:r>
              <a:rPr lang="ko-KR" altLang="en-US" dirty="0" err="1"/>
              <a:t>인체유래물데이터</a:t>
            </a:r>
            <a:r>
              <a:rPr lang="en-US" altLang="ko-KR" dirty="0"/>
              <a:t>,</a:t>
            </a:r>
            <a:r>
              <a:rPr lang="ko-KR" altLang="en-US" dirty="0"/>
              <a:t> 보건의료데이터를 포함하는 바이오데이터 활용의 필요성과 개선과제에 대해 </a:t>
            </a:r>
            <a:r>
              <a:rPr lang="en-US" dirty="0" err="1"/>
              <a:t>말씀드리겠습니다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50초] </a:t>
            </a:r>
          </a:p>
          <a:p>
            <a:r>
              <a:rPr lang="ko-KR" altLang="en-US" dirty="0"/>
              <a:t>현장에서 </a:t>
            </a:r>
            <a:r>
              <a:rPr lang="en-US" dirty="0"/>
              <a:t>AI </a:t>
            </a:r>
            <a:r>
              <a:rPr lang="en-US" dirty="0" err="1"/>
              <a:t>신약개발</a:t>
            </a:r>
            <a:r>
              <a:rPr lang="ko-KR" altLang="en-US" dirty="0"/>
              <a:t>은 </a:t>
            </a:r>
            <a:r>
              <a:rPr lang="en-US" dirty="0" err="1"/>
              <a:t>흔히</a:t>
            </a:r>
            <a:r>
              <a:rPr lang="en-US" dirty="0"/>
              <a:t> 어떤 </a:t>
            </a:r>
            <a:r>
              <a:rPr lang="en-US" dirty="0" err="1"/>
              <a:t>모델을</a:t>
            </a:r>
            <a:r>
              <a:rPr lang="en-US" dirty="0"/>
              <a:t> </a:t>
            </a:r>
            <a:r>
              <a:rPr lang="en-US" dirty="0" err="1"/>
              <a:t>쓰느냐</a:t>
            </a:r>
            <a:r>
              <a:rPr lang="ko-KR" altLang="en-US" dirty="0"/>
              <a:t> 보단</a:t>
            </a:r>
            <a:r>
              <a:rPr lang="en-US" altLang="ko-KR" dirty="0"/>
              <a:t>,</a:t>
            </a:r>
            <a:r>
              <a:rPr lang="en-US" dirty="0"/>
              <a:t> </a:t>
            </a:r>
            <a:r>
              <a:rPr lang="ko-KR" altLang="en-US" dirty="0"/>
              <a:t>어떤 연결된 </a:t>
            </a:r>
            <a:r>
              <a:rPr lang="en-US" dirty="0"/>
              <a:t>데이터</a:t>
            </a:r>
            <a:r>
              <a:rPr lang="ko-KR" altLang="en-US" dirty="0"/>
              <a:t>를 </a:t>
            </a:r>
            <a:r>
              <a:rPr lang="ko-KR" altLang="en-US" dirty="0" err="1"/>
              <a:t>사용하냐가</a:t>
            </a:r>
            <a:r>
              <a:rPr lang="ko-KR" altLang="en-US" dirty="0"/>
              <a:t> 더 중요합니다</a:t>
            </a:r>
            <a:r>
              <a:rPr lang="en-US" altLang="ko-KR" dirty="0"/>
              <a:t>.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2024년 Nature 분석에 </a:t>
            </a:r>
            <a:r>
              <a:rPr lang="en-US" dirty="0" err="1"/>
              <a:t>따르면</a:t>
            </a:r>
            <a:r>
              <a:rPr lang="en-US" dirty="0"/>
              <a:t> </a:t>
            </a:r>
            <a:r>
              <a:rPr lang="en-US" dirty="0" err="1"/>
              <a:t>인</a:t>
            </a:r>
            <a:r>
              <a:rPr lang="ko-KR" altLang="en-US" dirty="0"/>
              <a:t>체 </a:t>
            </a:r>
            <a:r>
              <a:rPr lang="en-US" dirty="0" err="1"/>
              <a:t>유전학</a:t>
            </a:r>
            <a:r>
              <a:rPr lang="ko-KR" altLang="en-US" dirty="0"/>
              <a:t>적</a:t>
            </a:r>
            <a:r>
              <a:rPr lang="en-US" dirty="0"/>
              <a:t> 근거가 </a:t>
            </a:r>
            <a:r>
              <a:rPr lang="en-US" dirty="0" err="1"/>
              <a:t>있는</a:t>
            </a:r>
            <a:r>
              <a:rPr lang="en-US" dirty="0"/>
              <a:t> </a:t>
            </a:r>
            <a:r>
              <a:rPr lang="ko-KR" altLang="en-US" dirty="0"/>
              <a:t>약물 </a:t>
            </a:r>
            <a:r>
              <a:rPr lang="en-US" dirty="0" err="1"/>
              <a:t>표적은</a:t>
            </a:r>
            <a:r>
              <a:rPr lang="en-US" dirty="0"/>
              <a:t> 임상개발 성공 확률이 2.6배 </a:t>
            </a:r>
            <a:r>
              <a:rPr lang="ko-KR" altLang="en-US" dirty="0"/>
              <a:t>높다고 알려져 있습니다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AI를</a:t>
            </a:r>
            <a:r>
              <a:rPr lang="en-US" dirty="0"/>
              <a:t> 활용하면 신약 탐색과 </a:t>
            </a:r>
            <a:r>
              <a:rPr lang="en-US" dirty="0" err="1"/>
              <a:t>전임상</a:t>
            </a:r>
            <a:r>
              <a:rPr lang="en-US" dirty="0"/>
              <a:t> </a:t>
            </a:r>
            <a:r>
              <a:rPr lang="en-US" dirty="0" err="1"/>
              <a:t>기간</a:t>
            </a:r>
            <a:r>
              <a:rPr lang="ko-KR" altLang="en-US" dirty="0"/>
              <a:t>과 개발 </a:t>
            </a:r>
            <a:r>
              <a:rPr lang="en-US" dirty="0" err="1"/>
              <a:t>비용을</a:t>
            </a:r>
            <a:r>
              <a:rPr lang="en-US" dirty="0"/>
              <a:t> 25~50% 줄일 수 </a:t>
            </a:r>
            <a:r>
              <a:rPr lang="en-US" dirty="0" err="1"/>
              <a:t>있다는</a:t>
            </a:r>
            <a:r>
              <a:rPr lang="en-US" dirty="0"/>
              <a:t> </a:t>
            </a:r>
            <a:r>
              <a:rPr lang="ko-KR" altLang="en-US" dirty="0"/>
              <a:t>보고도</a:t>
            </a:r>
            <a:r>
              <a:rPr lang="en-US" dirty="0"/>
              <a:t> 있습니다. </a:t>
            </a:r>
          </a:p>
          <a:p>
            <a:endParaRPr lang="en-US" dirty="0"/>
          </a:p>
          <a:p>
            <a:r>
              <a:rPr lang="en-US" dirty="0" err="1"/>
              <a:t>이</a:t>
            </a:r>
            <a:r>
              <a:rPr lang="ko-KR" altLang="en-US" dirty="0" err="1"/>
              <a:t>러한</a:t>
            </a:r>
            <a:r>
              <a:rPr lang="en-US" dirty="0"/>
              <a:t> </a:t>
            </a:r>
            <a:r>
              <a:rPr lang="ko-KR" altLang="en-US" dirty="0"/>
              <a:t>결과</a:t>
            </a:r>
            <a:r>
              <a:rPr lang="en-US" dirty="0" err="1"/>
              <a:t>의</a:t>
            </a:r>
            <a:r>
              <a:rPr lang="en-US" dirty="0"/>
              <a:t> </a:t>
            </a:r>
            <a:r>
              <a:rPr lang="ko-KR" altLang="en-US" dirty="0"/>
              <a:t>필수 </a:t>
            </a:r>
            <a:r>
              <a:rPr lang="en-US" dirty="0" err="1"/>
              <a:t>전제는</a:t>
            </a:r>
            <a:r>
              <a:rPr lang="en-US" dirty="0"/>
              <a:t> </a:t>
            </a:r>
            <a:r>
              <a:rPr lang="en-US" dirty="0" err="1"/>
              <a:t>연결된</a:t>
            </a:r>
            <a:r>
              <a:rPr lang="en-US" dirty="0"/>
              <a:t> </a:t>
            </a:r>
            <a:r>
              <a:rPr lang="ko-KR" altLang="en-US" dirty="0"/>
              <a:t>인체</a:t>
            </a:r>
            <a:r>
              <a:rPr lang="en-US" dirty="0" err="1"/>
              <a:t>데이터입니다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ko-KR" altLang="en-US" dirty="0" err="1"/>
              <a:t>힌</a:t>
            </a:r>
            <a:r>
              <a:rPr lang="en-US" dirty="0"/>
              <a:t> </a:t>
            </a:r>
            <a:r>
              <a:rPr lang="ko-KR" altLang="en-US" dirty="0"/>
              <a:t>환자</a:t>
            </a:r>
            <a:r>
              <a:rPr lang="en-US" dirty="0" err="1"/>
              <a:t>의</a:t>
            </a:r>
            <a:r>
              <a:rPr lang="en-US" dirty="0"/>
              <a:t> 진료·처방·경과 </a:t>
            </a:r>
            <a:r>
              <a:rPr lang="en-US" dirty="0" err="1"/>
              <a:t>정보와</a:t>
            </a:r>
            <a:r>
              <a:rPr lang="en-US" dirty="0"/>
              <a:t> </a:t>
            </a:r>
            <a:r>
              <a:rPr lang="ko-KR" altLang="en-US" dirty="0" err="1"/>
              <a:t>인체유래물</a:t>
            </a:r>
            <a:r>
              <a:rPr lang="ko-KR" altLang="en-US" dirty="0"/>
              <a:t> 데이터인 </a:t>
            </a:r>
            <a:r>
              <a:rPr lang="en-US" dirty="0" err="1"/>
              <a:t>유전체·전사체</a:t>
            </a:r>
            <a:r>
              <a:rPr lang="en-US" dirty="0"/>
              <a:t> 정보가 연결될 때, AI는 무엇이 일어났는지라는 정답과 왜 일어났는지라는 기전을 </a:t>
            </a:r>
            <a:r>
              <a:rPr lang="en-US" dirty="0" err="1"/>
              <a:t>함께</a:t>
            </a:r>
            <a:r>
              <a:rPr lang="en-US" dirty="0"/>
              <a:t> </a:t>
            </a:r>
            <a:r>
              <a:rPr lang="ko-KR" altLang="en-US" dirty="0"/>
              <a:t>학습하게 됩니다</a:t>
            </a:r>
            <a:r>
              <a:rPr lang="en-US" altLang="ko-KR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ko-KR" altLang="en-US" dirty="0" err="1"/>
              <a:t>위와같이</a:t>
            </a:r>
            <a:r>
              <a:rPr lang="ko-KR" altLang="en-US" dirty="0"/>
              <a:t> 연결된 인체 </a:t>
            </a:r>
            <a:r>
              <a:rPr lang="en-US" altLang="ko-US" dirty="0"/>
              <a:t>데이터</a:t>
            </a:r>
            <a:r>
              <a:rPr lang="ko-KR" altLang="en-US" dirty="0"/>
              <a:t>를 보유하고 있는 </a:t>
            </a:r>
            <a:r>
              <a:rPr lang="en-US" dirty="0" err="1"/>
              <a:t>영국</a:t>
            </a:r>
            <a:r>
              <a:rPr lang="ko-KR" altLang="en-US" dirty="0"/>
              <a:t>의</a:t>
            </a:r>
            <a:r>
              <a:rPr lang="en-US" dirty="0"/>
              <a:t> UK Biobank</a:t>
            </a:r>
            <a:r>
              <a:rPr lang="ko-KR" altLang="en-US" dirty="0"/>
              <a:t>를</a:t>
            </a:r>
            <a:r>
              <a:rPr lang="en-US" dirty="0"/>
              <a:t> </a:t>
            </a:r>
            <a:r>
              <a:rPr lang="ko-KR" altLang="en-US" dirty="0"/>
              <a:t>전세계 </a:t>
            </a:r>
            <a:r>
              <a:rPr lang="en-US" dirty="0"/>
              <a:t>2만 명이 </a:t>
            </a:r>
            <a:r>
              <a:rPr lang="en-US" dirty="0" err="1"/>
              <a:t>넘는</a:t>
            </a:r>
            <a:r>
              <a:rPr lang="en-US" dirty="0"/>
              <a:t> </a:t>
            </a:r>
            <a:r>
              <a:rPr lang="en-US" dirty="0" err="1"/>
              <a:t>연구자</a:t>
            </a:r>
            <a:r>
              <a:rPr lang="ko-KR" altLang="en-US" dirty="0"/>
              <a:t>가</a:t>
            </a:r>
            <a:r>
              <a:rPr lang="en-US" dirty="0"/>
              <a:t> </a:t>
            </a:r>
            <a:r>
              <a:rPr lang="ko-KR" altLang="en-US" dirty="0"/>
              <a:t>사용을 승인을 받고 영국인의 건강증진을 위해 연구하는 이유이기도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45초] </a:t>
            </a:r>
          </a:p>
          <a:p>
            <a:r>
              <a:rPr lang="en-US" dirty="0" err="1"/>
              <a:t>구체적인</a:t>
            </a:r>
            <a:r>
              <a:rPr lang="en-US" dirty="0"/>
              <a:t> </a:t>
            </a:r>
            <a:r>
              <a:rPr lang="en-US" dirty="0" err="1"/>
              <a:t>사례로</a:t>
            </a:r>
            <a:r>
              <a:rPr lang="en-US" dirty="0"/>
              <a:t> </a:t>
            </a:r>
            <a:r>
              <a:rPr lang="en-US" dirty="0" err="1"/>
              <a:t>보겠습니다</a:t>
            </a:r>
            <a:r>
              <a:rPr lang="en-US" dirty="0"/>
              <a:t>. 신약개발의 첫 단계인 표적 발굴에서는 GWAS와 단일세포 데이터</a:t>
            </a:r>
            <a:r>
              <a:rPr lang="ko-KR" altLang="en-US" dirty="0"/>
              <a:t>등의 </a:t>
            </a:r>
            <a:r>
              <a:rPr lang="ko-KR" altLang="en-US" dirty="0" err="1"/>
              <a:t>인체유래물</a:t>
            </a:r>
            <a:r>
              <a:rPr lang="ko-KR" altLang="en-US" dirty="0"/>
              <a:t> 데이터</a:t>
            </a:r>
            <a:r>
              <a:rPr lang="en-US" dirty="0" err="1"/>
              <a:t>로</a:t>
            </a:r>
            <a:r>
              <a:rPr lang="en-US" dirty="0"/>
              <a:t> </a:t>
            </a:r>
            <a:r>
              <a:rPr lang="en-US" dirty="0" err="1"/>
              <a:t>후보</a:t>
            </a:r>
            <a:r>
              <a:rPr lang="en-US" dirty="0"/>
              <a:t> </a:t>
            </a:r>
            <a:r>
              <a:rPr lang="ko-KR" altLang="en-US" dirty="0"/>
              <a:t>표적 </a:t>
            </a:r>
            <a:r>
              <a:rPr lang="en-US" dirty="0" err="1"/>
              <a:t>유전자를</a:t>
            </a:r>
            <a:r>
              <a:rPr lang="en-US" dirty="0"/>
              <a:t> 찾습니다. </a:t>
            </a:r>
          </a:p>
          <a:p>
            <a:r>
              <a:rPr lang="en-US" dirty="0" err="1"/>
              <a:t>그러나</a:t>
            </a:r>
            <a:r>
              <a:rPr lang="en-US" dirty="0"/>
              <a:t> 어떤 표적을 </a:t>
            </a:r>
            <a:r>
              <a:rPr lang="en-US" dirty="0" err="1"/>
              <a:t>먼저</a:t>
            </a:r>
            <a:r>
              <a:rPr lang="en-US" dirty="0"/>
              <a:t> </a:t>
            </a:r>
            <a:r>
              <a:rPr lang="ko-KR" altLang="en-US" dirty="0"/>
              <a:t>선택</a:t>
            </a:r>
            <a:r>
              <a:rPr lang="en-US" dirty="0" err="1"/>
              <a:t>할지는</a:t>
            </a:r>
            <a:r>
              <a:rPr lang="en-US" dirty="0"/>
              <a:t> 실제 환자의 질병 진행 데이터와 연결해야 정할 수 있습니다. </a:t>
            </a:r>
          </a:p>
          <a:p>
            <a:endParaRPr lang="en-US" dirty="0"/>
          </a:p>
          <a:p>
            <a:r>
              <a:rPr lang="en-US" dirty="0" err="1"/>
              <a:t>독성</a:t>
            </a:r>
            <a:r>
              <a:rPr lang="en-US" dirty="0"/>
              <a:t> 예측도 마찬가지입니다. </a:t>
            </a:r>
          </a:p>
          <a:p>
            <a:r>
              <a:rPr lang="en-US" dirty="0" err="1"/>
              <a:t>간·심장</a:t>
            </a:r>
            <a:r>
              <a:rPr lang="en-US" dirty="0"/>
              <a:t> 오가노이드로 독성을 학습해도, 실제 환자에게 나타나는 복합 이상반응은 진료·처방 기록으로 검증해야 합니다. </a:t>
            </a:r>
          </a:p>
          <a:p>
            <a:r>
              <a:rPr lang="en-US" dirty="0" err="1"/>
              <a:t>실험</a:t>
            </a:r>
            <a:r>
              <a:rPr lang="en-US" dirty="0"/>
              <a:t> 데이터만으로는 환자의 현실을, 진료 데이터만으로는 분자 기전을 설명할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45초] </a:t>
            </a:r>
          </a:p>
          <a:p>
            <a:r>
              <a:rPr lang="en-US" dirty="0" err="1"/>
              <a:t>정밀의료도</a:t>
            </a:r>
            <a:r>
              <a:rPr lang="en-US" dirty="0"/>
              <a:t> </a:t>
            </a:r>
            <a:r>
              <a:rPr lang="ko-KR" altLang="en-US" dirty="0"/>
              <a:t>마찬가지 입니다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en-US" dirty="0" err="1"/>
              <a:t>미국</a:t>
            </a:r>
            <a:r>
              <a:rPr lang="en-US" dirty="0"/>
              <a:t> </a:t>
            </a:r>
            <a:r>
              <a:rPr lang="ko-KR" altLang="en-US" dirty="0"/>
              <a:t>암학회에서 추진되고 있는</a:t>
            </a:r>
            <a:r>
              <a:rPr lang="en-US" dirty="0"/>
              <a:t> GENIE</a:t>
            </a:r>
            <a:r>
              <a:rPr lang="ko-KR" altLang="en-US" dirty="0"/>
              <a:t> 프로젝트</a:t>
            </a:r>
            <a:r>
              <a:rPr lang="en-US" dirty="0" err="1"/>
              <a:t>는</a:t>
            </a:r>
            <a:r>
              <a:rPr lang="en-US" dirty="0"/>
              <a:t> 여러 암센터의 암 유전체와 </a:t>
            </a:r>
            <a:r>
              <a:rPr lang="en-US" dirty="0" err="1"/>
              <a:t>장기</a:t>
            </a:r>
            <a:r>
              <a:rPr lang="en-US" dirty="0"/>
              <a:t> </a:t>
            </a:r>
            <a:r>
              <a:rPr lang="en-US" dirty="0" err="1"/>
              <a:t>임상</a:t>
            </a:r>
            <a:r>
              <a:rPr lang="ko-KR" altLang="en-US" dirty="0"/>
              <a:t>결과</a:t>
            </a:r>
            <a:r>
              <a:rPr lang="en-US" dirty="0"/>
              <a:t>를 </a:t>
            </a:r>
            <a:r>
              <a:rPr lang="ko-KR" altLang="en-US" dirty="0"/>
              <a:t>통합하여</a:t>
            </a:r>
            <a:r>
              <a:rPr lang="en-US" dirty="0"/>
              <a:t> 신약개발과 임상시험 </a:t>
            </a:r>
            <a:r>
              <a:rPr lang="en-US" dirty="0" err="1"/>
              <a:t>설계에</a:t>
            </a:r>
            <a:r>
              <a:rPr lang="en-US" dirty="0"/>
              <a:t> </a:t>
            </a:r>
            <a:r>
              <a:rPr lang="en-US" dirty="0" err="1"/>
              <a:t>활용</a:t>
            </a:r>
            <a:r>
              <a:rPr lang="ko-KR" altLang="en-US" dirty="0"/>
              <a:t>하고자 추진되고 있습니다</a:t>
            </a:r>
            <a:r>
              <a:rPr lang="en-US" altLang="ko-KR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ko-KR" altLang="en-US" dirty="0"/>
              <a:t>미국의 </a:t>
            </a:r>
            <a:r>
              <a:rPr lang="en-US" dirty="0"/>
              <a:t>All of Us</a:t>
            </a:r>
            <a:r>
              <a:rPr lang="ko-KR" altLang="en-US" dirty="0"/>
              <a:t> 프로젝트</a:t>
            </a:r>
            <a:r>
              <a:rPr lang="en-US" dirty="0" err="1"/>
              <a:t>는</a:t>
            </a:r>
            <a:r>
              <a:rPr lang="en-US" dirty="0"/>
              <a:t> 진료기록에 유전체와 웨어러블 데이터를 붙여 </a:t>
            </a:r>
            <a:r>
              <a:rPr lang="en-US" dirty="0" err="1"/>
              <a:t>연구자에게</a:t>
            </a:r>
            <a:r>
              <a:rPr lang="en-US" dirty="0"/>
              <a:t> </a:t>
            </a:r>
            <a:r>
              <a:rPr lang="en-US" dirty="0" err="1"/>
              <a:t>제공</a:t>
            </a:r>
            <a:r>
              <a:rPr lang="ko-KR" altLang="en-US" dirty="0"/>
              <a:t>하여</a:t>
            </a:r>
            <a:r>
              <a:rPr lang="en-US" altLang="ko-KR" dirty="0"/>
              <a:t>,</a:t>
            </a:r>
            <a:r>
              <a:rPr lang="ko-KR" altLang="en-US" dirty="0"/>
              <a:t> 환자 맞춤형 정밀의료를 위한 연구 인프라를 제공하기 시작했습니다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우리</a:t>
            </a:r>
            <a:r>
              <a:rPr lang="ko-KR" altLang="en-US" dirty="0"/>
              <a:t>나라</a:t>
            </a:r>
            <a:r>
              <a:rPr lang="en-US" dirty="0" err="1"/>
              <a:t>도</a:t>
            </a:r>
            <a:r>
              <a:rPr lang="en-US" dirty="0"/>
              <a:t> </a:t>
            </a:r>
            <a:r>
              <a:rPr lang="ko-KR" altLang="en-US" dirty="0"/>
              <a:t>암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dirty="0" err="1"/>
              <a:t>희귀질환</a:t>
            </a:r>
            <a:r>
              <a:rPr lang="ko-KR" altLang="en-US" dirty="0"/>
              <a:t>을 극복하기 위해</a:t>
            </a:r>
            <a:r>
              <a:rPr lang="en-US" dirty="0"/>
              <a:t> 전장유전체와 임상정보를 함께 </a:t>
            </a:r>
            <a:r>
              <a:rPr lang="en-US" dirty="0" err="1"/>
              <a:t>담은</a:t>
            </a:r>
            <a:r>
              <a:rPr lang="en-US" dirty="0"/>
              <a:t> </a:t>
            </a:r>
            <a:r>
              <a:rPr lang="ko-KR" altLang="en-US" dirty="0"/>
              <a:t>대규모 데이터를 구축한바 </a:t>
            </a:r>
            <a:r>
              <a:rPr lang="en-US" dirty="0" err="1"/>
              <a:t>있습니다</a:t>
            </a:r>
            <a:r>
              <a:rPr lang="en-US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en-US" dirty="0" err="1"/>
              <a:t>문제는</a:t>
            </a:r>
            <a:r>
              <a:rPr lang="en-US" dirty="0"/>
              <a:t> </a:t>
            </a:r>
            <a:r>
              <a:rPr lang="en-US" dirty="0" err="1"/>
              <a:t>이</a:t>
            </a:r>
            <a:r>
              <a:rPr lang="en-US" dirty="0"/>
              <a:t> </a:t>
            </a:r>
            <a:r>
              <a:rPr lang="ko-KR" altLang="en-US" dirty="0"/>
              <a:t>데이터를 </a:t>
            </a:r>
            <a:r>
              <a:rPr lang="en-US" altLang="ko-KR" dirty="0"/>
              <a:t>Access</a:t>
            </a:r>
            <a:r>
              <a:rPr lang="ko-KR" altLang="en-US" dirty="0"/>
              <a:t>하기 위해서 오랜 시간이 소요된다는 점과 희귀질환 정보와 같은 임상정보를 쉽게 활용할 수 없다는 점 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40초] </a:t>
            </a:r>
          </a:p>
          <a:p>
            <a:endParaRPr lang="en-US" dirty="0"/>
          </a:p>
          <a:p>
            <a:r>
              <a:rPr lang="ko-KR" altLang="en-US" dirty="0"/>
              <a:t>신약개발과</a:t>
            </a:r>
            <a:r>
              <a:rPr lang="en-US" altLang="ko-KR" dirty="0"/>
              <a:t>,</a:t>
            </a:r>
            <a:r>
              <a:rPr lang="ko-KR" altLang="en-US" dirty="0"/>
              <a:t> 정밀의료를 위해 중요한 다음의 질문은 </a:t>
            </a:r>
            <a:r>
              <a:rPr lang="en-US" dirty="0" err="1"/>
              <a:t>진료</a:t>
            </a:r>
            <a:r>
              <a:rPr lang="en-US" dirty="0"/>
              <a:t> </a:t>
            </a:r>
            <a:r>
              <a:rPr lang="en-US" dirty="0" err="1"/>
              <a:t>데이터만으로</a:t>
            </a:r>
            <a:r>
              <a:rPr lang="ko-KR" altLang="en-US" dirty="0"/>
              <a:t>는</a:t>
            </a:r>
            <a:r>
              <a:rPr lang="en-US" dirty="0"/>
              <a:t>, </a:t>
            </a:r>
            <a:r>
              <a:rPr lang="ko-KR" altLang="en-US" dirty="0"/>
              <a:t>또는 </a:t>
            </a:r>
            <a:r>
              <a:rPr lang="en-US" dirty="0" err="1"/>
              <a:t>유전체</a:t>
            </a:r>
            <a:r>
              <a:rPr lang="en-US" dirty="0"/>
              <a:t> </a:t>
            </a:r>
            <a:r>
              <a:rPr lang="en-US" dirty="0" err="1"/>
              <a:t>데이터만으로</a:t>
            </a:r>
            <a:r>
              <a:rPr lang="ko-KR" altLang="en-US" dirty="0"/>
              <a:t>는</a:t>
            </a:r>
            <a:r>
              <a:rPr lang="en-US" dirty="0"/>
              <a:t> </a:t>
            </a:r>
            <a:r>
              <a:rPr lang="ko-KR" altLang="en-US" dirty="0"/>
              <a:t>해결할</a:t>
            </a:r>
            <a:r>
              <a:rPr lang="en-US" dirty="0"/>
              <a:t> 수 </a:t>
            </a:r>
            <a:r>
              <a:rPr lang="en-US" dirty="0" err="1"/>
              <a:t>없습니다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ko-KR" altLang="en-US" dirty="0"/>
              <a:t>이러한 질문은 </a:t>
            </a:r>
            <a:r>
              <a:rPr lang="en-US" dirty="0" err="1"/>
              <a:t>두</a:t>
            </a:r>
            <a:r>
              <a:rPr lang="en-US" dirty="0"/>
              <a:t> </a:t>
            </a:r>
            <a:r>
              <a:rPr lang="ko-KR" altLang="en-US" dirty="0"/>
              <a:t>인체유래 </a:t>
            </a:r>
            <a:r>
              <a:rPr lang="en-US" dirty="0"/>
              <a:t>데이터</a:t>
            </a:r>
            <a:r>
              <a:rPr lang="ko-KR" altLang="en-US" dirty="0"/>
              <a:t>와 보건의료 데이터</a:t>
            </a:r>
            <a:r>
              <a:rPr lang="en-US" dirty="0" err="1"/>
              <a:t>가</a:t>
            </a:r>
            <a:r>
              <a:rPr lang="en-US" dirty="0"/>
              <a:t> 같은 사람 </a:t>
            </a:r>
            <a:r>
              <a:rPr lang="en-US" dirty="0" err="1"/>
              <a:t>단위로</a:t>
            </a:r>
            <a:r>
              <a:rPr lang="en-US" dirty="0"/>
              <a:t> </a:t>
            </a:r>
            <a:r>
              <a:rPr lang="en-US" dirty="0" err="1"/>
              <a:t>연결되어야</a:t>
            </a:r>
            <a:r>
              <a:rPr lang="ko-KR" altLang="en-US" dirty="0"/>
              <a:t> 해결할 수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무수히 많은 질문이 위와 같은 상황입니다</a:t>
            </a:r>
            <a:r>
              <a:rPr lang="en-US" altLang="ko-KR" dirty="0"/>
              <a:t>.</a:t>
            </a:r>
            <a:r>
              <a:rPr lang="ko-KR" altLang="en-US" dirty="0"/>
              <a:t>  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40초] </a:t>
            </a:r>
          </a:p>
          <a:p>
            <a:endParaRPr lang="en-US" dirty="0"/>
          </a:p>
          <a:p>
            <a:r>
              <a:rPr lang="en-US" dirty="0" err="1"/>
              <a:t>우리나라의</a:t>
            </a:r>
            <a:r>
              <a:rPr lang="en-US" dirty="0"/>
              <a:t> </a:t>
            </a:r>
            <a:r>
              <a:rPr lang="ko-KR" altLang="en-US" dirty="0"/>
              <a:t>바이오</a:t>
            </a:r>
            <a:r>
              <a:rPr lang="en-US" dirty="0"/>
              <a:t>데이터 </a:t>
            </a:r>
            <a:r>
              <a:rPr lang="en-US" dirty="0" err="1"/>
              <a:t>자산은</a:t>
            </a:r>
            <a:r>
              <a:rPr lang="en-US" dirty="0"/>
              <a:t> </a:t>
            </a:r>
            <a:r>
              <a:rPr lang="ko-KR" altLang="en-US" dirty="0"/>
              <a:t>계속 확장되고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  <a:p>
            <a:endParaRPr lang="en-US" dirty="0"/>
          </a:p>
          <a:p>
            <a:r>
              <a:rPr lang="en-US" dirty="0"/>
              <a:t>국가바이오데이터스테이션 3만 7천 테라바이트, 질병관리청 2천 7백 테라바이트, 건강보험 빅데이터 4.6조 </a:t>
            </a:r>
            <a:r>
              <a:rPr lang="en-US" dirty="0" err="1"/>
              <a:t>건</a:t>
            </a:r>
            <a:r>
              <a:rPr lang="ko-KR" altLang="en-US" dirty="0"/>
              <a:t> 등 </a:t>
            </a:r>
            <a:r>
              <a:rPr lang="en-US" dirty="0" err="1"/>
              <a:t>입니다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지난</a:t>
            </a:r>
            <a:r>
              <a:rPr lang="en-US" dirty="0"/>
              <a:t> 9월 관계부처 합동 자료도 이 숫자를 제시하면서, 분산·파편화와 제도 기반 미흡 때문에 AI 학습과 신약개발에 쓸 데이터의 공개·활용이 부족하다고 진단했습니다. </a:t>
            </a:r>
          </a:p>
          <a:p>
            <a:endParaRPr lang="en-US" dirty="0"/>
          </a:p>
          <a:p>
            <a:r>
              <a:rPr lang="ko-KR" altLang="en-US" dirty="0"/>
              <a:t>연구</a:t>
            </a:r>
            <a:r>
              <a:rPr lang="en-US" dirty="0" err="1"/>
              <a:t>현장에서는</a:t>
            </a:r>
            <a:r>
              <a:rPr lang="en-US" dirty="0"/>
              <a:t> </a:t>
            </a:r>
            <a:r>
              <a:rPr lang="ko-KR" altLang="en-US" dirty="0"/>
              <a:t>국내 바이오데이터 활용을 저해하는 요소로 다음 </a:t>
            </a:r>
            <a:r>
              <a:rPr lang="ko-KR" altLang="en-US" dirty="0" err="1"/>
              <a:t>네가지를</a:t>
            </a:r>
            <a:r>
              <a:rPr lang="ko-KR" altLang="en-US" dirty="0"/>
              <a:t> 꼽고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첫번쨰 데이터 </a:t>
            </a:r>
            <a:r>
              <a:rPr lang="en-US" dirty="0" err="1"/>
              <a:t>분산</a:t>
            </a:r>
            <a:r>
              <a:rPr lang="en-US" altLang="ko-KR" dirty="0"/>
              <a:t>/</a:t>
            </a:r>
            <a:r>
              <a:rPr lang="ko-KR" altLang="en-US" dirty="0"/>
              <a:t>파편화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 err="1"/>
              <a:t>두번쨰</a:t>
            </a:r>
            <a:r>
              <a:rPr lang="ko-KR" altLang="en-US" dirty="0"/>
              <a:t> </a:t>
            </a:r>
            <a:r>
              <a:rPr lang="en-US" altLang="ko-KR" dirty="0"/>
              <a:t>IRB/DRB </a:t>
            </a:r>
            <a:r>
              <a:rPr lang="en-US" dirty="0" err="1"/>
              <a:t>심의</a:t>
            </a:r>
            <a:r>
              <a:rPr lang="en-US" dirty="0"/>
              <a:t> </a:t>
            </a:r>
            <a:r>
              <a:rPr lang="en-US" dirty="0" err="1"/>
              <a:t>중첩</a:t>
            </a:r>
            <a:r>
              <a:rPr lang="ko-KR" altLang="en-US" dirty="0"/>
              <a:t> 및 탐색적 연구가 불가능한 구조</a:t>
            </a:r>
            <a:r>
              <a:rPr lang="en-US" dirty="0"/>
              <a:t>, </a:t>
            </a:r>
          </a:p>
          <a:p>
            <a:r>
              <a:rPr lang="ko-KR" altLang="en-US" dirty="0" err="1"/>
              <a:t>세번쨰</a:t>
            </a:r>
            <a:r>
              <a:rPr lang="ko-KR" altLang="en-US" dirty="0"/>
              <a:t> </a:t>
            </a:r>
            <a:r>
              <a:rPr lang="en-US" dirty="0" err="1"/>
              <a:t>모호한</a:t>
            </a:r>
            <a:r>
              <a:rPr lang="en-US" dirty="0"/>
              <a:t> 가명처리 </a:t>
            </a:r>
            <a:r>
              <a:rPr lang="en-US" dirty="0" err="1"/>
              <a:t>기준과</a:t>
            </a:r>
            <a:r>
              <a:rPr lang="en-US" dirty="0"/>
              <a:t> </a:t>
            </a:r>
            <a:r>
              <a:rPr lang="ko-KR" altLang="en-US" dirty="0"/>
              <a:t>민감데이터의 </a:t>
            </a:r>
            <a:r>
              <a:rPr lang="en-US" dirty="0" err="1"/>
              <a:t>폐쇄</a:t>
            </a:r>
            <a:r>
              <a:rPr lang="ko-KR" altLang="en-US" dirty="0"/>
              <a:t>적 연구환경 </a:t>
            </a:r>
            <a:r>
              <a:rPr lang="en-US" dirty="0"/>
              <a:t> </a:t>
            </a:r>
          </a:p>
          <a:p>
            <a:r>
              <a:rPr lang="ko-KR" altLang="en-US" dirty="0" err="1"/>
              <a:t>네번쨰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활용 대응력 부재로 </a:t>
            </a:r>
            <a:r>
              <a:rPr lang="en-US" altLang="ko-KR" dirty="0"/>
              <a:t>AI</a:t>
            </a:r>
            <a:r>
              <a:rPr lang="ko-KR" altLang="en-US" dirty="0"/>
              <a:t>의 다양한 가설검증 및 탐색 연구 불가능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70초] </a:t>
            </a:r>
          </a:p>
          <a:p>
            <a:endParaRPr lang="en-US" dirty="0"/>
          </a:p>
          <a:p>
            <a:r>
              <a:rPr lang="en-US" dirty="0" err="1"/>
              <a:t>오늘</a:t>
            </a:r>
            <a:r>
              <a:rPr lang="en-US" dirty="0"/>
              <a:t> 가장 말씀드리고 싶은 슬라이드입니다. </a:t>
            </a:r>
          </a:p>
          <a:p>
            <a:endParaRPr lang="en-US" dirty="0"/>
          </a:p>
          <a:p>
            <a:r>
              <a:rPr lang="ko-KR" altLang="en-US" dirty="0"/>
              <a:t>우리</a:t>
            </a:r>
            <a:r>
              <a:rPr lang="en-US" dirty="0"/>
              <a:t> 연구팀이 세 </a:t>
            </a:r>
            <a:r>
              <a:rPr lang="en-US" dirty="0" err="1"/>
              <a:t>나라의</a:t>
            </a:r>
            <a:r>
              <a:rPr lang="en-US" dirty="0"/>
              <a:t> </a:t>
            </a:r>
            <a:r>
              <a:rPr lang="ko-KR" altLang="en-US" dirty="0"/>
              <a:t>바이오 </a:t>
            </a:r>
            <a:r>
              <a:rPr lang="en-US" dirty="0" err="1"/>
              <a:t>데이터베이스에</a:t>
            </a:r>
            <a:r>
              <a:rPr lang="en-US" dirty="0"/>
              <a:t> 실제로 </a:t>
            </a:r>
            <a:r>
              <a:rPr lang="en-US" dirty="0" err="1"/>
              <a:t>신청한</a:t>
            </a:r>
            <a:r>
              <a:rPr lang="en-US" dirty="0"/>
              <a:t> </a:t>
            </a:r>
            <a:r>
              <a:rPr lang="en-US" dirty="0" err="1"/>
              <a:t>경험</a:t>
            </a:r>
            <a:r>
              <a:rPr lang="ko-KR" altLang="en-US" dirty="0"/>
              <a:t>을 토대로 요약했습니다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미국</a:t>
            </a:r>
            <a:r>
              <a:rPr lang="en-US" dirty="0"/>
              <a:t> NIH </a:t>
            </a:r>
            <a:r>
              <a:rPr lang="ko-KR" altLang="en-US" dirty="0" err="1"/>
              <a:t>암데이테베이스인</a:t>
            </a:r>
            <a:r>
              <a:rPr lang="ko-KR" altLang="en-US" dirty="0"/>
              <a:t> </a:t>
            </a:r>
            <a:r>
              <a:rPr lang="en-US" dirty="0" err="1"/>
              <a:t>dbGaP은</a:t>
            </a:r>
            <a:r>
              <a:rPr lang="en-US" dirty="0"/>
              <a:t> 한 문단짜리 연구 요약을 내고 소속 기관장이 승인하면 사흘 안팎에 NIH 승인이 나고, 1주일 </a:t>
            </a:r>
            <a:r>
              <a:rPr lang="en-US" dirty="0" err="1"/>
              <a:t>안에</a:t>
            </a:r>
            <a:r>
              <a:rPr lang="en-US" dirty="0"/>
              <a:t> </a:t>
            </a:r>
            <a:r>
              <a:rPr lang="ko-KR" altLang="en-US" dirty="0"/>
              <a:t>암유전체 </a:t>
            </a:r>
            <a:r>
              <a:rPr lang="en-US" dirty="0" err="1"/>
              <a:t>원시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내려받</a:t>
            </a:r>
            <a:r>
              <a:rPr lang="ko-KR" altLang="en-US" dirty="0" err="1"/>
              <a:t>을수</a:t>
            </a:r>
            <a:r>
              <a:rPr lang="ko-KR" altLang="en-US" dirty="0"/>
              <a:t> 있었습니다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영국</a:t>
            </a:r>
            <a:r>
              <a:rPr lang="en-US" dirty="0"/>
              <a:t> UK Biobank는 이용료 </a:t>
            </a:r>
            <a:r>
              <a:rPr lang="en-US" dirty="0" err="1"/>
              <a:t>납부와</a:t>
            </a:r>
            <a:r>
              <a:rPr lang="en-US" dirty="0"/>
              <a:t> </a:t>
            </a:r>
            <a:r>
              <a:rPr lang="en-US" dirty="0" err="1"/>
              <a:t>물질이전계약</a:t>
            </a:r>
            <a:r>
              <a:rPr lang="en-US" altLang="ko-KR" dirty="0"/>
              <a:t>(MTA)</a:t>
            </a:r>
            <a:r>
              <a:rPr lang="en-US" dirty="0" err="1"/>
              <a:t>을</a:t>
            </a:r>
            <a:r>
              <a:rPr lang="en-US" dirty="0"/>
              <a:t> 포함해도 2개월이면 클라우드에서 </a:t>
            </a:r>
            <a:r>
              <a:rPr lang="en-US" dirty="0" err="1"/>
              <a:t>분석을</a:t>
            </a:r>
            <a:r>
              <a:rPr lang="en-US" dirty="0"/>
              <a:t> </a:t>
            </a:r>
            <a:r>
              <a:rPr lang="en-US" dirty="0" err="1"/>
              <a:t>시작</a:t>
            </a:r>
            <a:r>
              <a:rPr lang="ko-KR" altLang="en-US" dirty="0" err="1"/>
              <a:t>할수</a:t>
            </a:r>
            <a:r>
              <a:rPr lang="ko-KR" altLang="en-US" dirty="0"/>
              <a:t> 있었습니다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ko-KR" altLang="en-US" dirty="0"/>
              <a:t>하지만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dirty="0" err="1"/>
              <a:t>국내</a:t>
            </a:r>
            <a:r>
              <a:rPr lang="en-US" dirty="0"/>
              <a:t> </a:t>
            </a:r>
            <a:r>
              <a:rPr lang="ko-KR" altLang="en-US" dirty="0"/>
              <a:t>데이터전문기관의 </a:t>
            </a:r>
            <a:r>
              <a:rPr lang="ko-KR" altLang="en-US" dirty="0" err="1"/>
              <a:t>가명처리된</a:t>
            </a:r>
            <a:r>
              <a:rPr lang="ko-KR" altLang="en-US" dirty="0"/>
              <a:t> </a:t>
            </a:r>
            <a:r>
              <a:rPr lang="ko-KR" altLang="en-US" dirty="0" err="1"/>
              <a:t>인체유래물데이터</a:t>
            </a:r>
            <a:r>
              <a:rPr lang="en-US" altLang="ko-KR" dirty="0"/>
              <a:t>-</a:t>
            </a:r>
            <a:r>
              <a:rPr lang="ko-KR" altLang="en-US" dirty="0"/>
              <a:t>보건의료 데이터는</a:t>
            </a:r>
            <a:r>
              <a:rPr lang="en-US" dirty="0"/>
              <a:t> 8개월이 지나도 데이터를 쓰지 못했습니다. </a:t>
            </a:r>
            <a:r>
              <a:rPr lang="ko-KR" altLang="en-US" dirty="0"/>
              <a:t>전문기간만의 문제는 아니고 시스템의 문제로 말씀드리고 싶습니다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dirty="0" err="1"/>
              <a:t>더</a:t>
            </a:r>
            <a:r>
              <a:rPr lang="en-US" dirty="0"/>
              <a:t> 큰 </a:t>
            </a:r>
            <a:r>
              <a:rPr lang="en-US" dirty="0" err="1"/>
              <a:t>차이는</a:t>
            </a:r>
            <a:r>
              <a:rPr lang="en-US" dirty="0"/>
              <a:t> </a:t>
            </a:r>
            <a:r>
              <a:rPr lang="en-US" dirty="0" err="1"/>
              <a:t>원시</a:t>
            </a:r>
            <a:r>
              <a:rPr lang="en-US" dirty="0"/>
              <a:t> 데이터 접근 방식입니다. 미국은 다운로드, 영국은 인증 클라우드인데, 우리는 인터넷이 차단된 폐쇄환경에서만 제한적으로 허용됩니다. AI 연구에 필요한 최신 </a:t>
            </a:r>
            <a:r>
              <a:rPr lang="en-US" dirty="0" err="1"/>
              <a:t>모델과</a:t>
            </a:r>
            <a:r>
              <a:rPr lang="en-US" dirty="0"/>
              <a:t> </a:t>
            </a:r>
            <a:r>
              <a:rPr lang="ko-KR" altLang="en-US" dirty="0"/>
              <a:t>연구환경을</a:t>
            </a:r>
            <a:r>
              <a:rPr lang="en-US" dirty="0"/>
              <a:t> </a:t>
            </a:r>
            <a:r>
              <a:rPr lang="en-US" dirty="0" err="1"/>
              <a:t>쓰기</a:t>
            </a:r>
            <a:r>
              <a:rPr lang="en-US" dirty="0"/>
              <a:t> </a:t>
            </a:r>
            <a:r>
              <a:rPr lang="en-US" dirty="0" err="1"/>
              <a:t>어려</a:t>
            </a:r>
            <a:r>
              <a:rPr lang="ko-KR" altLang="en-US" dirty="0" err="1"/>
              <a:t>우며</a:t>
            </a:r>
            <a:r>
              <a:rPr lang="en-US" altLang="ko-KR" dirty="0"/>
              <a:t>,</a:t>
            </a:r>
            <a:r>
              <a:rPr lang="ko-KR" altLang="en-US" dirty="0"/>
              <a:t> 본 연구 전 수행하는 탐색적 연구는 더욱이 </a:t>
            </a:r>
            <a:r>
              <a:rPr lang="ko-KR" altLang="en-US" dirty="0" err="1"/>
              <a:t>할수</a:t>
            </a:r>
            <a:r>
              <a:rPr lang="ko-KR" altLang="en-US" dirty="0"/>
              <a:t> 없는 환경입니다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60초] </a:t>
            </a:r>
          </a:p>
          <a:p>
            <a:r>
              <a:rPr lang="ko-KR" altLang="en-US" dirty="0"/>
              <a:t>데이터 접근 승인</a:t>
            </a:r>
            <a:r>
              <a:rPr lang="en-US" dirty="0"/>
              <a:t> 지연이 </a:t>
            </a:r>
            <a:r>
              <a:rPr lang="en-US" dirty="0" err="1"/>
              <a:t>왜</a:t>
            </a:r>
            <a:r>
              <a:rPr lang="en-US" dirty="0"/>
              <a:t> </a:t>
            </a:r>
            <a:r>
              <a:rPr lang="ko-KR" altLang="en-US" dirty="0"/>
              <a:t>문제가 될까요</a:t>
            </a:r>
            <a:r>
              <a:rPr lang="en-US" altLang="ko-KR" dirty="0"/>
              <a:t>?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연구는</a:t>
            </a:r>
            <a:r>
              <a:rPr lang="en-US" dirty="0"/>
              <a:t> 처음부터 필요한 데이터를 다 알고 시작하지 </a:t>
            </a:r>
            <a:r>
              <a:rPr lang="en-US" dirty="0" err="1"/>
              <a:t>않습니다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면역항암제</a:t>
            </a:r>
            <a:r>
              <a:rPr lang="en-US" dirty="0"/>
              <a:t> 반응 예측 연구를 예로 들면, 첫 모델을 만든 </a:t>
            </a:r>
            <a:r>
              <a:rPr lang="en-US" dirty="0" err="1"/>
              <a:t>뒤에야</a:t>
            </a:r>
            <a:r>
              <a:rPr lang="en-US" dirty="0"/>
              <a:t> </a:t>
            </a:r>
            <a:r>
              <a:rPr lang="ko-KR" altLang="en-US" dirty="0"/>
              <a:t>어떤 </a:t>
            </a:r>
            <a:r>
              <a:rPr lang="ko-KR" altLang="en-US" dirty="0" err="1"/>
              <a:t>인체유래물</a:t>
            </a:r>
            <a:r>
              <a:rPr lang="ko-KR" altLang="en-US" dirty="0"/>
              <a:t> 데이터가 </a:t>
            </a:r>
            <a:r>
              <a:rPr lang="en-US" dirty="0" err="1"/>
              <a:t>필요하다는</a:t>
            </a:r>
            <a:r>
              <a:rPr lang="en-US" dirty="0"/>
              <a:t> 것을 알게 되고, 그 결과를 보고 </a:t>
            </a:r>
            <a:r>
              <a:rPr lang="en-US" dirty="0" err="1"/>
              <a:t>나서야</a:t>
            </a:r>
            <a:r>
              <a:rPr lang="en-US" dirty="0"/>
              <a:t> </a:t>
            </a:r>
            <a:r>
              <a:rPr lang="ko-KR" altLang="en-US" dirty="0"/>
              <a:t>어떤 임상정보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dirty="0" err="1"/>
              <a:t>진료</a:t>
            </a:r>
            <a:r>
              <a:rPr lang="en-US" dirty="0"/>
              <a:t> 기록, </a:t>
            </a:r>
            <a:r>
              <a:rPr lang="ko-KR" altLang="en-US" dirty="0"/>
              <a:t>어떤 </a:t>
            </a:r>
            <a:r>
              <a:rPr lang="en-US" dirty="0" err="1"/>
              <a:t>다른</a:t>
            </a:r>
            <a:r>
              <a:rPr lang="en-US" dirty="0"/>
              <a:t> 암종 </a:t>
            </a:r>
            <a:r>
              <a:rPr lang="en-US" dirty="0" err="1"/>
              <a:t>데이터가</a:t>
            </a:r>
            <a:r>
              <a:rPr lang="en-US" dirty="0"/>
              <a:t> </a:t>
            </a:r>
            <a:r>
              <a:rPr lang="en-US" dirty="0" err="1"/>
              <a:t>필요</a:t>
            </a:r>
            <a:r>
              <a:rPr lang="ko-KR" altLang="en-US" dirty="0"/>
              <a:t>한지 알게 됩니다</a:t>
            </a:r>
            <a:r>
              <a:rPr lang="en-US" dirty="0"/>
              <a:t>.</a:t>
            </a:r>
            <a:r>
              <a:rPr lang="ko-KR" altLang="en-US" dirty="0"/>
              <a:t> 이를 탐색적 연구라고 말합니다</a:t>
            </a:r>
            <a:r>
              <a:rPr lang="en-US" altLang="ko-KR" dirty="0"/>
              <a:t>.</a:t>
            </a:r>
            <a:r>
              <a:rPr lang="en-US" dirty="0"/>
              <a:t> </a:t>
            </a:r>
            <a:r>
              <a:rPr lang="ko-KR" altLang="en-US" dirty="0"/>
              <a:t>모든 연구는 이와 같이 진행됩니다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ko-KR" altLang="en-US" dirty="0"/>
              <a:t>하지만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dirty="0" err="1"/>
              <a:t>지금</a:t>
            </a:r>
            <a:r>
              <a:rPr lang="en-US" dirty="0"/>
              <a:t> </a:t>
            </a:r>
            <a:r>
              <a:rPr lang="ko-KR" altLang="en-US" dirty="0"/>
              <a:t>환경</a:t>
            </a:r>
            <a:r>
              <a:rPr lang="en-US" dirty="0" err="1"/>
              <a:t>에서는</a:t>
            </a:r>
            <a:r>
              <a:rPr lang="en-US" dirty="0"/>
              <a:t> 데이터가 바뀔 </a:t>
            </a:r>
            <a:r>
              <a:rPr lang="en-US" dirty="0" err="1"/>
              <a:t>때마다</a:t>
            </a:r>
            <a:r>
              <a:rPr lang="en-US" dirty="0"/>
              <a:t> </a:t>
            </a:r>
            <a:r>
              <a:rPr lang="ko-KR" altLang="en-US" dirty="0"/>
              <a:t>반복적으로 </a:t>
            </a:r>
            <a:r>
              <a:rPr lang="en-US" dirty="0"/>
              <a:t>IRB </a:t>
            </a:r>
            <a:r>
              <a:rPr lang="ko-KR" altLang="en-US" dirty="0"/>
              <a:t>심의 또는 </a:t>
            </a:r>
            <a:r>
              <a:rPr lang="en-US" dirty="0" err="1"/>
              <a:t>면제</a:t>
            </a:r>
            <a:r>
              <a:rPr lang="ko-KR" altLang="en-US" dirty="0"/>
              <a:t>심의</a:t>
            </a:r>
            <a:r>
              <a:rPr lang="en-US" dirty="0"/>
              <a:t>, DRB, 기관 심사를 새로 받아야 </a:t>
            </a:r>
            <a:r>
              <a:rPr lang="en-US" dirty="0" err="1"/>
              <a:t>합니다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ko-KR" altLang="en-US" dirty="0"/>
              <a:t>국내 데이터 승인에 소요되는 시간을 </a:t>
            </a:r>
            <a:r>
              <a:rPr lang="en-US" dirty="0" err="1"/>
              <a:t>보수적으로</a:t>
            </a:r>
            <a:r>
              <a:rPr lang="en-US" dirty="0"/>
              <a:t> 회당 6개월로 잡아도 다섯 번이면 2년 반입니다. </a:t>
            </a:r>
            <a:r>
              <a:rPr lang="ko-KR" altLang="en-US" dirty="0"/>
              <a:t>해외는 회당 </a:t>
            </a:r>
            <a:r>
              <a:rPr lang="en-US" dirty="0"/>
              <a:t>2주</a:t>
            </a:r>
            <a:r>
              <a:rPr lang="ko-KR" altLang="en-US" dirty="0"/>
              <a:t>이내이고</a:t>
            </a:r>
            <a:r>
              <a:rPr lang="en-US" altLang="ko-KR" dirty="0"/>
              <a:t>,</a:t>
            </a:r>
            <a:r>
              <a:rPr lang="ko-KR" altLang="en-US" dirty="0"/>
              <a:t> 총</a:t>
            </a:r>
            <a:r>
              <a:rPr lang="en-US" dirty="0"/>
              <a:t> 10주면 끝납니다. </a:t>
            </a:r>
          </a:p>
          <a:p>
            <a:endParaRPr lang="en-US" dirty="0"/>
          </a:p>
          <a:p>
            <a:r>
              <a:rPr lang="en-US" dirty="0"/>
              <a:t>2년 반과 10주, 이 차이가 곧 연구 경쟁력의 </a:t>
            </a:r>
            <a:r>
              <a:rPr lang="en-US" dirty="0" err="1"/>
              <a:t>차이입니다</a:t>
            </a:r>
            <a:r>
              <a:rPr lang="en-US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심지어 해외는 폭넓은 데이터 활용 범위를 인정하는 하지만</a:t>
            </a:r>
            <a:r>
              <a:rPr lang="en-US" altLang="ko-KR" dirty="0"/>
              <a:t>,</a:t>
            </a:r>
            <a:r>
              <a:rPr lang="ko-KR" altLang="en-US" dirty="0"/>
              <a:t> 국내 </a:t>
            </a:r>
            <a:r>
              <a:rPr lang="en-US" altLang="ko-KR" dirty="0"/>
              <a:t>IRB</a:t>
            </a:r>
            <a:r>
              <a:rPr lang="ko-KR" altLang="en-US" dirty="0"/>
              <a:t>는 데이터 사용에 대한 명확한 근거를 제시하는 것을 요청하기 때문에 폭넓은 신청자체가 불가능합니다</a:t>
            </a:r>
            <a:r>
              <a:rPr lang="en-US" altLang="ko-KR" dirty="0"/>
              <a:t>.</a:t>
            </a:r>
            <a:r>
              <a:rPr lang="ko-KR" altLang="en-US" dirty="0"/>
              <a:t> 따라서 재심의 요청이 계속해서 발생할 수 밖에 없습니다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55초] </a:t>
            </a:r>
          </a:p>
          <a:p>
            <a:r>
              <a:rPr lang="en-US" dirty="0" err="1"/>
              <a:t>왜</a:t>
            </a:r>
            <a:r>
              <a:rPr lang="en-US" dirty="0"/>
              <a:t> </a:t>
            </a:r>
            <a:r>
              <a:rPr lang="en-US" dirty="0" err="1"/>
              <a:t>이렇게</a:t>
            </a:r>
            <a:r>
              <a:rPr lang="en-US" dirty="0"/>
              <a:t> </a:t>
            </a:r>
            <a:r>
              <a:rPr lang="ko-KR" altLang="en-US" dirty="0"/>
              <a:t>데이터 접근 승인 심의가 </a:t>
            </a:r>
            <a:r>
              <a:rPr lang="en-US" dirty="0" err="1"/>
              <a:t>오래</a:t>
            </a:r>
            <a:r>
              <a:rPr lang="en-US" dirty="0"/>
              <a:t> </a:t>
            </a:r>
            <a:r>
              <a:rPr lang="ko-KR" altLang="en-US" dirty="0"/>
              <a:t>걸리는 걸까요</a:t>
            </a:r>
            <a:r>
              <a:rPr lang="en-US" altLang="ko-KR" dirty="0"/>
              <a:t>?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첫째</a:t>
            </a:r>
            <a:r>
              <a:rPr lang="en-US" dirty="0"/>
              <a:t>, 가명정보는 IRB 면제가 가능하지만 면제 확인 자체가 심의와 비슷한 절차여서 실제 단축 효과가 거의 </a:t>
            </a:r>
            <a:r>
              <a:rPr lang="en-US" dirty="0" err="1"/>
              <a:t>없습니다</a:t>
            </a:r>
            <a:r>
              <a:rPr lang="en-US" dirty="0"/>
              <a:t>.</a:t>
            </a:r>
            <a:r>
              <a:rPr lang="ko-KR" altLang="en-US" dirty="0"/>
              <a:t> 특히</a:t>
            </a:r>
            <a:r>
              <a:rPr lang="en-US" altLang="ko-KR" dirty="0"/>
              <a:t>,</a:t>
            </a:r>
            <a:r>
              <a:rPr lang="ko-KR" altLang="en-US" dirty="0"/>
              <a:t> 가명정보 판단 프로세스가 </a:t>
            </a:r>
            <a:r>
              <a:rPr lang="ko-KR" altLang="en-US" dirty="0" err="1"/>
              <a:t>오래걸리고</a:t>
            </a:r>
            <a:r>
              <a:rPr lang="en-US" altLang="ko-KR" dirty="0"/>
              <a:t>,</a:t>
            </a:r>
            <a:r>
              <a:rPr lang="ko-KR" altLang="en-US" dirty="0"/>
              <a:t> 매번 같은 가명데이터도 가명정보 판단을 반복하는 문제점도 있습니다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 err="1"/>
              <a:t>둘째</a:t>
            </a:r>
            <a:r>
              <a:rPr lang="en-US" dirty="0"/>
              <a:t>, 최근 보건의료데이터 </a:t>
            </a:r>
            <a:r>
              <a:rPr lang="en-US" dirty="0" err="1"/>
              <a:t>활용</a:t>
            </a:r>
            <a:r>
              <a:rPr lang="en-US" dirty="0"/>
              <a:t> </a:t>
            </a:r>
            <a:r>
              <a:rPr lang="en-US" dirty="0" err="1"/>
              <a:t>가이드라인</a:t>
            </a:r>
            <a:r>
              <a:rPr lang="ko-KR" altLang="en-US" dirty="0"/>
              <a:t> 재개정에서 </a:t>
            </a:r>
            <a:r>
              <a:rPr lang="en-US" dirty="0" err="1"/>
              <a:t>IRB와</a:t>
            </a:r>
            <a:r>
              <a:rPr lang="en-US" dirty="0"/>
              <a:t> </a:t>
            </a:r>
            <a:r>
              <a:rPr lang="en-US" dirty="0" err="1"/>
              <a:t>별도의</a:t>
            </a:r>
            <a:r>
              <a:rPr lang="en-US" dirty="0"/>
              <a:t> DRB</a:t>
            </a:r>
            <a:r>
              <a:rPr lang="ko-KR" altLang="en-US" dirty="0"/>
              <a:t>로 </a:t>
            </a:r>
            <a:r>
              <a:rPr lang="en-US" dirty="0" err="1"/>
              <a:t>같은</a:t>
            </a:r>
            <a:r>
              <a:rPr lang="en-US" dirty="0"/>
              <a:t> </a:t>
            </a:r>
            <a:r>
              <a:rPr lang="en-US" dirty="0" err="1"/>
              <a:t>데이터를</a:t>
            </a:r>
            <a:r>
              <a:rPr lang="en-US" dirty="0"/>
              <a:t> </a:t>
            </a:r>
            <a:r>
              <a:rPr lang="en-US" dirty="0" err="1"/>
              <a:t>두</a:t>
            </a:r>
            <a:r>
              <a:rPr lang="en-US" dirty="0"/>
              <a:t> </a:t>
            </a:r>
            <a:r>
              <a:rPr lang="en-US" dirty="0" err="1"/>
              <a:t>번</a:t>
            </a:r>
            <a:r>
              <a:rPr lang="en-US" dirty="0"/>
              <a:t> </a:t>
            </a:r>
            <a:r>
              <a:rPr lang="en-US" dirty="0" err="1"/>
              <a:t>심의하게</a:t>
            </a:r>
            <a:r>
              <a:rPr lang="ko-KR" altLang="en-US" dirty="0"/>
              <a:t> 됩니다</a:t>
            </a:r>
            <a:r>
              <a:rPr lang="en-US" altLang="ko-KR" dirty="0"/>
              <a:t>.</a:t>
            </a:r>
            <a:r>
              <a:rPr lang="ko-KR" altLang="en-US" dirty="0"/>
              <a:t> 통합심의를 한다고 해도 연구자에게는 두배의 부담이 되는 것은 사실입니다</a:t>
            </a:r>
            <a:r>
              <a:rPr lang="en-US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en-US" dirty="0" err="1"/>
              <a:t>셋째</a:t>
            </a:r>
            <a:r>
              <a:rPr lang="en-US" dirty="0"/>
              <a:t>, 미국 Safe </a:t>
            </a:r>
            <a:r>
              <a:rPr lang="en-US" dirty="0" err="1"/>
              <a:t>Harbor처럼</a:t>
            </a:r>
            <a:r>
              <a:rPr lang="en-US" dirty="0"/>
              <a:t> </a:t>
            </a:r>
            <a:r>
              <a:rPr lang="ko-KR" altLang="en-US" dirty="0"/>
              <a:t>어떠한 정보를</a:t>
            </a:r>
            <a:r>
              <a:rPr lang="en-US" dirty="0"/>
              <a:t> </a:t>
            </a:r>
            <a:r>
              <a:rPr lang="ko-KR" altLang="en-US" dirty="0"/>
              <a:t>삭제하</a:t>
            </a:r>
            <a:r>
              <a:rPr lang="en-US" dirty="0" err="1"/>
              <a:t>면</a:t>
            </a:r>
            <a:r>
              <a:rPr lang="en-US" dirty="0"/>
              <a:t> 가명정보로 본다는 명시적 기준이 없어 기관이 </a:t>
            </a:r>
            <a:r>
              <a:rPr lang="en-US" dirty="0" err="1"/>
              <a:t>판단을</a:t>
            </a:r>
            <a:r>
              <a:rPr lang="en-US" dirty="0"/>
              <a:t> </a:t>
            </a:r>
            <a:r>
              <a:rPr lang="en-US" dirty="0" err="1"/>
              <a:t>피하</a:t>
            </a:r>
            <a:r>
              <a:rPr lang="ko-KR" altLang="en-US" dirty="0"/>
              <a:t>거나 어려움을 겪고 있고</a:t>
            </a:r>
            <a:r>
              <a:rPr lang="en-US" dirty="0"/>
              <a:t>, 유전체는 그 자체로 식별 가능하다는 오해 </a:t>
            </a:r>
            <a:r>
              <a:rPr lang="en-US" dirty="0" err="1"/>
              <a:t>때문에</a:t>
            </a:r>
            <a:r>
              <a:rPr lang="en-US" dirty="0"/>
              <a:t> </a:t>
            </a:r>
            <a:r>
              <a:rPr lang="ko-KR" altLang="en-US" dirty="0"/>
              <a:t>가명정보에서 </a:t>
            </a:r>
            <a:r>
              <a:rPr lang="en-US" dirty="0" err="1"/>
              <a:t>사실상</a:t>
            </a:r>
            <a:r>
              <a:rPr lang="en-US" dirty="0"/>
              <a:t> </a:t>
            </a:r>
            <a:r>
              <a:rPr lang="en-US" dirty="0" err="1"/>
              <a:t>배제</a:t>
            </a:r>
            <a:r>
              <a:rPr lang="ko-KR" altLang="en-US" dirty="0"/>
              <a:t>되고 잇습니다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넷째</a:t>
            </a:r>
            <a:r>
              <a:rPr lang="en-US" dirty="0"/>
              <a:t>, </a:t>
            </a:r>
            <a:r>
              <a:rPr lang="en-US" dirty="0" err="1"/>
              <a:t>과제·변수</a:t>
            </a:r>
            <a:r>
              <a:rPr lang="en-US" dirty="0"/>
              <a:t> </a:t>
            </a:r>
            <a:r>
              <a:rPr lang="en-US" dirty="0" err="1"/>
              <a:t>단위로</a:t>
            </a:r>
            <a:r>
              <a:rPr lang="en-US" dirty="0"/>
              <a:t> </a:t>
            </a:r>
            <a:r>
              <a:rPr lang="en-US" dirty="0" err="1"/>
              <a:t>매번</a:t>
            </a:r>
            <a:r>
              <a:rPr lang="en-US" dirty="0"/>
              <a:t> IRB/DRB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en-US" dirty="0" err="1"/>
              <a:t>신청해야</a:t>
            </a:r>
            <a:r>
              <a:rPr lang="en-US" dirty="0"/>
              <a:t> 하고 분석환경이 폐쇄적이어서 탐색적 연구와 AI </a:t>
            </a:r>
            <a:r>
              <a:rPr lang="en-US" dirty="0" err="1"/>
              <a:t>분석이</a:t>
            </a:r>
            <a:r>
              <a:rPr lang="en-US" dirty="0"/>
              <a:t> </a:t>
            </a:r>
            <a:r>
              <a:rPr lang="ko-KR" altLang="en-US" dirty="0"/>
              <a:t>거의 불가능합니다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ko-KR" altLang="en-US" dirty="0"/>
              <a:t>따라서</a:t>
            </a:r>
            <a:r>
              <a:rPr lang="en-US" altLang="ko-KR" dirty="0"/>
              <a:t>,</a:t>
            </a:r>
            <a:r>
              <a:rPr lang="ko-KR" altLang="en-US" dirty="0"/>
              <a:t> 폭넓은 데이터 활용신청을 허용하고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가명처리된</a:t>
            </a:r>
            <a:r>
              <a:rPr lang="ko-KR" altLang="en-US" dirty="0"/>
              <a:t> 데이터셋은 </a:t>
            </a:r>
            <a:r>
              <a:rPr lang="en-US" altLang="ko-KR" dirty="0"/>
              <a:t>IRB/DRB</a:t>
            </a:r>
            <a:r>
              <a:rPr lang="ko-KR" altLang="en-US" dirty="0"/>
              <a:t> 면제를 통해 불필요한 행정적 요소를 없애고</a:t>
            </a:r>
            <a:r>
              <a:rPr lang="en-US" altLang="ko-KR" dirty="0"/>
              <a:t>,</a:t>
            </a:r>
            <a:r>
              <a:rPr lang="ko-KR" altLang="en-US" dirty="0"/>
              <a:t> 실질적인 승인 시간을 단축해야 합니다 </a:t>
            </a:r>
            <a:r>
              <a:rPr lang="en-US" altLang="ko-KR" dirty="0"/>
              <a:t>!!!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35초] </a:t>
            </a:r>
          </a:p>
          <a:p>
            <a:endParaRPr lang="en-US" dirty="0"/>
          </a:p>
          <a:p>
            <a:r>
              <a:rPr lang="ko-KR" altLang="en-US" dirty="0"/>
              <a:t> 글로벌 경쟁에서 살아남기 위해서는 우리도 미국</a:t>
            </a:r>
            <a:r>
              <a:rPr lang="en-US" altLang="ko-KR" dirty="0"/>
              <a:t>,</a:t>
            </a:r>
            <a:r>
              <a:rPr lang="ko-KR" altLang="en-US" dirty="0"/>
              <a:t> 영국과 같은 수준으로</a:t>
            </a:r>
            <a:endParaRPr lang="en-US" dirty="0"/>
          </a:p>
          <a:p>
            <a:r>
              <a:rPr lang="ko-KR" altLang="en-US" dirty="0"/>
              <a:t> </a:t>
            </a:r>
            <a:r>
              <a:rPr lang="en-US" dirty="0" err="1"/>
              <a:t>신청부터</a:t>
            </a:r>
            <a:r>
              <a:rPr lang="en-US" dirty="0"/>
              <a:t> 2주 </a:t>
            </a:r>
            <a:r>
              <a:rPr lang="en-US" dirty="0" err="1"/>
              <a:t>이내</a:t>
            </a:r>
            <a:r>
              <a:rPr lang="ko-KR" altLang="en-US" dirty="0"/>
              <a:t> 승인이 날수 있도록 해야 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dirty="0"/>
          </a:p>
          <a:p>
            <a:endParaRPr lang="en-US" altLang="ko-KR" dirty="0"/>
          </a:p>
          <a:p>
            <a:r>
              <a:rPr lang="ko-KR" altLang="en-US" dirty="0"/>
              <a:t> </a:t>
            </a:r>
            <a:r>
              <a:rPr lang="en-US" dirty="0" err="1"/>
              <a:t>이를</a:t>
            </a:r>
            <a:r>
              <a:rPr lang="en-US" dirty="0"/>
              <a:t> 위한 개선 과제를 두 단계로 나누어 말씀드리겠습니다. </a:t>
            </a:r>
          </a:p>
          <a:p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   첫번쨰 </a:t>
            </a:r>
            <a:r>
              <a:rPr lang="en-US" dirty="0" err="1"/>
              <a:t>단계는</a:t>
            </a:r>
            <a:r>
              <a:rPr lang="en-US" dirty="0"/>
              <a:t> 지금 국회에 계류 중인 바이오데이터법을 제정해 현재의 구조적 문제를 법으로 푸는 것입니다. </a:t>
            </a:r>
          </a:p>
          <a:p>
            <a:r>
              <a:rPr lang="ko-KR" altLang="en-US" dirty="0"/>
              <a:t>   두번째 </a:t>
            </a:r>
            <a:r>
              <a:rPr lang="en-US" dirty="0" err="1"/>
              <a:t>단계는</a:t>
            </a:r>
            <a:r>
              <a:rPr lang="en-US" dirty="0"/>
              <a:t> 법만으로는 채워지지 않는 부분, 즉 하위법령과 운영 체계에서 추가로 고려해야 할 과제입니다.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60초] </a:t>
            </a:r>
          </a:p>
          <a:p>
            <a:endParaRPr lang="en-US" dirty="0"/>
          </a:p>
          <a:p>
            <a:r>
              <a:rPr lang="en-US" dirty="0" err="1"/>
              <a:t>바이오데이터법</a:t>
            </a:r>
            <a:r>
              <a:rPr lang="ko-KR" altLang="en-US" dirty="0"/>
              <a:t> 제정을 통해</a:t>
            </a:r>
            <a:r>
              <a:rPr lang="en-US" dirty="0"/>
              <a:t> </a:t>
            </a:r>
            <a:r>
              <a:rPr lang="ko-KR" altLang="en-US" dirty="0"/>
              <a:t>앞서 언급된 문제를 일부 해결 </a:t>
            </a:r>
            <a:r>
              <a:rPr lang="ko-KR" altLang="en-US" dirty="0" err="1"/>
              <a:t>할수</a:t>
            </a:r>
            <a:r>
              <a:rPr lang="ko-KR" altLang="en-US" dirty="0"/>
              <a:t> 있습니다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기관마다</a:t>
            </a:r>
            <a:r>
              <a:rPr lang="en-US" dirty="0"/>
              <a:t> 흩어진 데이터는 국가바이오데이터통합시스템을 통해 한 </a:t>
            </a:r>
            <a:r>
              <a:rPr lang="en-US" dirty="0" err="1"/>
              <a:t>곳에서</a:t>
            </a:r>
            <a:r>
              <a:rPr lang="en-US" dirty="0"/>
              <a:t> </a:t>
            </a:r>
            <a:r>
              <a:rPr lang="ko-KR" altLang="en-US" dirty="0"/>
              <a:t>모든 데이터전문기관의 </a:t>
            </a:r>
            <a:r>
              <a:rPr lang="ko-KR" altLang="en-US" dirty="0" err="1"/>
              <a:t>바이오데이터를</a:t>
            </a:r>
            <a:r>
              <a:rPr lang="ko-KR" altLang="en-US" dirty="0"/>
              <a:t> </a:t>
            </a:r>
            <a:r>
              <a:rPr lang="en-US" dirty="0" err="1"/>
              <a:t>탐색하고</a:t>
            </a:r>
            <a:r>
              <a:rPr lang="en-US" dirty="0"/>
              <a:t> 신청할 수 </a:t>
            </a:r>
            <a:r>
              <a:rPr lang="en-US" dirty="0" err="1"/>
              <a:t>있게</a:t>
            </a:r>
            <a:r>
              <a:rPr lang="en-US" dirty="0"/>
              <a:t> </a:t>
            </a:r>
            <a:r>
              <a:rPr lang="ko-KR" altLang="en-US" dirty="0"/>
              <a:t>해야 합니다</a:t>
            </a:r>
            <a:r>
              <a:rPr lang="en-US" altLang="ko-KR" dirty="0"/>
              <a:t>.</a:t>
            </a:r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IRB 면제 확인, DRB로 겹쳐 있는 </a:t>
            </a:r>
            <a:r>
              <a:rPr lang="en-US" dirty="0" err="1"/>
              <a:t>심의는</a:t>
            </a:r>
            <a:r>
              <a:rPr lang="en-US" dirty="0"/>
              <a:t> </a:t>
            </a:r>
            <a:r>
              <a:rPr lang="ko-KR" altLang="en-US" dirty="0"/>
              <a:t>공용</a:t>
            </a:r>
            <a:r>
              <a:rPr lang="en-US" altLang="ko-KR" dirty="0"/>
              <a:t> IRB</a:t>
            </a:r>
            <a:r>
              <a:rPr lang="ko-KR" altLang="en-US" dirty="0"/>
              <a:t>내 </a:t>
            </a:r>
            <a:r>
              <a:rPr lang="en-US" altLang="ko-US" dirty="0"/>
              <a:t>AI </a:t>
            </a:r>
            <a:r>
              <a:rPr lang="en-US" altLang="ko-US" dirty="0" err="1"/>
              <a:t>전문</a:t>
            </a:r>
            <a:r>
              <a:rPr lang="en-US" altLang="ko-US" dirty="0"/>
              <a:t> </a:t>
            </a:r>
            <a:r>
              <a:rPr lang="en-US" altLang="ko-US" dirty="0" err="1"/>
              <a:t>특별심의위원회</a:t>
            </a:r>
            <a:r>
              <a:rPr lang="ko-KR" altLang="en-US" dirty="0"/>
              <a:t>를 </a:t>
            </a:r>
            <a:r>
              <a:rPr lang="en-US" dirty="0" err="1"/>
              <a:t>통해</a:t>
            </a:r>
            <a:r>
              <a:rPr lang="en-US" dirty="0"/>
              <a:t> </a:t>
            </a:r>
            <a:r>
              <a:rPr lang="ko-KR" altLang="en-US" dirty="0"/>
              <a:t>탐색적 연구가 가능하도록 심의를 </a:t>
            </a:r>
            <a:r>
              <a:rPr lang="en-US" dirty="0" err="1"/>
              <a:t>통합할</a:t>
            </a:r>
            <a:r>
              <a:rPr lang="en-US" dirty="0"/>
              <a:t> </a:t>
            </a:r>
            <a:r>
              <a:rPr lang="en-US" dirty="0" err="1"/>
              <a:t>수</a:t>
            </a:r>
            <a:r>
              <a:rPr lang="en-US" dirty="0"/>
              <a:t> </a:t>
            </a:r>
            <a:r>
              <a:rPr lang="ko-KR" altLang="en-US" dirty="0"/>
              <a:t>있게 해야 합니다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근거가</a:t>
            </a:r>
            <a:r>
              <a:rPr lang="en-US" dirty="0"/>
              <a:t> 모호했던 </a:t>
            </a:r>
            <a:r>
              <a:rPr lang="en-US" dirty="0" err="1"/>
              <a:t>가명처리는</a:t>
            </a:r>
            <a:r>
              <a:rPr lang="en-US" dirty="0"/>
              <a:t> </a:t>
            </a:r>
            <a:r>
              <a:rPr lang="ko-KR" altLang="en-US" dirty="0"/>
              <a:t>명확하고 </a:t>
            </a:r>
            <a:r>
              <a:rPr lang="en-US" altLang="ko-KR" dirty="0"/>
              <a:t>Negative </a:t>
            </a:r>
            <a:r>
              <a:rPr lang="ko-KR" altLang="en-US" dirty="0"/>
              <a:t>규제 방식의 </a:t>
            </a:r>
            <a:r>
              <a:rPr lang="en-US" dirty="0" err="1"/>
              <a:t>가명바이오데이터</a:t>
            </a:r>
            <a:r>
              <a:rPr lang="en-US" dirty="0"/>
              <a:t> 처리 규정으로 법적 근거를 </a:t>
            </a:r>
            <a:r>
              <a:rPr lang="en-US" dirty="0" err="1"/>
              <a:t>갖게</a:t>
            </a:r>
            <a:r>
              <a:rPr lang="en-US" dirty="0"/>
              <a:t> </a:t>
            </a:r>
            <a:r>
              <a:rPr lang="ko-KR" altLang="en-US" dirty="0"/>
              <a:t>해야 합니다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이를 통해 연구자는 </a:t>
            </a:r>
            <a:r>
              <a:rPr lang="en-US" dirty="0" err="1"/>
              <a:t>보건의료데이터와</a:t>
            </a:r>
            <a:r>
              <a:rPr lang="en-US" dirty="0"/>
              <a:t> </a:t>
            </a:r>
            <a:r>
              <a:rPr lang="en-US" dirty="0" err="1"/>
              <a:t>인체유래물데이터를</a:t>
            </a:r>
            <a:r>
              <a:rPr lang="en-US" dirty="0"/>
              <a:t> </a:t>
            </a:r>
            <a:r>
              <a:rPr lang="ko-KR" altLang="en-US" dirty="0"/>
              <a:t>보다 쉽게 </a:t>
            </a:r>
            <a:r>
              <a:rPr lang="en-US" dirty="0" err="1"/>
              <a:t>결합해</a:t>
            </a:r>
            <a:r>
              <a:rPr lang="en-US" dirty="0"/>
              <a:t> 활용할 수 있게 됩니다.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55초] </a:t>
            </a:r>
          </a:p>
          <a:p>
            <a:r>
              <a:rPr lang="en-US" dirty="0" err="1"/>
              <a:t>그렇다면</a:t>
            </a:r>
            <a:r>
              <a:rPr lang="en-US" dirty="0"/>
              <a:t> 왜 가이드라인이 </a:t>
            </a:r>
            <a:r>
              <a:rPr lang="en-US" dirty="0" err="1"/>
              <a:t>아니라</a:t>
            </a:r>
            <a:r>
              <a:rPr lang="en-US" dirty="0"/>
              <a:t> </a:t>
            </a:r>
            <a:r>
              <a:rPr lang="en-US" dirty="0" err="1"/>
              <a:t>법</a:t>
            </a:r>
            <a:r>
              <a:rPr lang="ko-KR" altLang="en-US" dirty="0" err="1"/>
              <a:t>률이</a:t>
            </a:r>
            <a:r>
              <a:rPr lang="ko-KR" altLang="en-US" dirty="0"/>
              <a:t> 필요한 것일까요</a:t>
            </a:r>
            <a:r>
              <a:rPr lang="en-US" altLang="ko-KR" dirty="0"/>
              <a:t>?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dirty="0"/>
          </a:p>
          <a:p>
            <a:r>
              <a:rPr lang="en-US" dirty="0" err="1"/>
              <a:t>첫째</a:t>
            </a:r>
            <a:r>
              <a:rPr lang="en-US" dirty="0"/>
              <a:t>, 생명윤리법, 개인정보보호법, 의료법은 </a:t>
            </a:r>
            <a:r>
              <a:rPr lang="en-US" dirty="0" err="1"/>
              <a:t>모두</a:t>
            </a:r>
            <a:r>
              <a:rPr lang="en-US" dirty="0"/>
              <a:t> </a:t>
            </a:r>
            <a:r>
              <a:rPr lang="ko-KR" altLang="en-US" dirty="0"/>
              <a:t>바이오데이터 </a:t>
            </a:r>
            <a:r>
              <a:rPr lang="en-US" dirty="0" err="1"/>
              <a:t>보호를</a:t>
            </a:r>
            <a:r>
              <a:rPr lang="en-US" dirty="0"/>
              <a:t> 위한 법입니다. </a:t>
            </a:r>
            <a:r>
              <a:rPr lang="ko-KR" altLang="en-US" dirty="0"/>
              <a:t>국민의 건강증진을 위한 </a:t>
            </a:r>
            <a:r>
              <a:rPr lang="en-US" dirty="0" err="1"/>
              <a:t>연구</a:t>
            </a:r>
            <a:r>
              <a:rPr lang="ko-KR" altLang="en-US" dirty="0"/>
              <a:t>를 진흥하는 </a:t>
            </a:r>
            <a:r>
              <a:rPr lang="en-US" dirty="0" err="1"/>
              <a:t>목적으로</a:t>
            </a:r>
            <a:r>
              <a:rPr lang="en-US" dirty="0"/>
              <a:t> 기준과 절차를 </a:t>
            </a:r>
            <a:r>
              <a:rPr lang="en-US" dirty="0" err="1"/>
              <a:t>정한</a:t>
            </a:r>
            <a:r>
              <a:rPr lang="en-US" dirty="0"/>
              <a:t> </a:t>
            </a:r>
            <a:r>
              <a:rPr lang="en-US" dirty="0" err="1"/>
              <a:t>법률</a:t>
            </a:r>
            <a:r>
              <a:rPr lang="ko-KR" altLang="en-US" dirty="0"/>
              <a:t>이 필요한 시점입니다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둘째</a:t>
            </a:r>
            <a:r>
              <a:rPr lang="en-US" dirty="0"/>
              <a:t>, 가이드라인은 개정될 </a:t>
            </a:r>
            <a:r>
              <a:rPr lang="en-US" dirty="0" err="1"/>
              <a:t>때마다</a:t>
            </a:r>
            <a:r>
              <a:rPr lang="en-US" dirty="0"/>
              <a:t> </a:t>
            </a:r>
            <a:r>
              <a:rPr lang="ko-KR" altLang="en-US" dirty="0"/>
              <a:t>절차 방법이 바뀌어 </a:t>
            </a:r>
            <a:r>
              <a:rPr lang="en-US" dirty="0" err="1"/>
              <a:t>문턱이</a:t>
            </a:r>
            <a:r>
              <a:rPr lang="en-US" dirty="0"/>
              <a:t> </a:t>
            </a:r>
            <a:r>
              <a:rPr lang="en-US" dirty="0" err="1"/>
              <a:t>바뀝니다</a:t>
            </a:r>
            <a:r>
              <a:rPr lang="en-US" dirty="0"/>
              <a:t>. 연구자에게는 예측 가능성이 가장 중요합니다. </a:t>
            </a:r>
          </a:p>
          <a:p>
            <a:endParaRPr lang="en-US" dirty="0"/>
          </a:p>
          <a:p>
            <a:r>
              <a:rPr lang="en-US" dirty="0" err="1"/>
              <a:t>셋째</a:t>
            </a:r>
            <a:r>
              <a:rPr lang="en-US" dirty="0"/>
              <a:t>,</a:t>
            </a:r>
            <a:r>
              <a:rPr lang="ko-KR" altLang="en-US" dirty="0"/>
              <a:t> </a:t>
            </a:r>
            <a:r>
              <a:rPr lang="en-US" dirty="0" err="1"/>
              <a:t>부처</a:t>
            </a:r>
            <a:r>
              <a:rPr lang="en-US" dirty="0"/>
              <a:t> 경계를 넘는 법적 근거가 필요합니다. </a:t>
            </a:r>
            <a:r>
              <a:rPr lang="en-US" dirty="0" err="1"/>
              <a:t>공용</a:t>
            </a:r>
            <a:r>
              <a:rPr lang="ko-KR" altLang="en-US" dirty="0"/>
              <a:t> </a:t>
            </a:r>
            <a:r>
              <a:rPr lang="en-US" dirty="0"/>
              <a:t>IRB 안에 AI 전문 특별심의위원회를 둔 것은 의미 있는 진전입니다. 다만 심의 </a:t>
            </a:r>
            <a:r>
              <a:rPr lang="en-US" dirty="0" err="1"/>
              <a:t>일원화와</a:t>
            </a:r>
            <a:r>
              <a:rPr lang="en-US" dirty="0"/>
              <a:t> </a:t>
            </a:r>
            <a:r>
              <a:rPr lang="en-US" dirty="0" err="1"/>
              <a:t>가명데이터</a:t>
            </a:r>
            <a:r>
              <a:rPr lang="en-US" dirty="0"/>
              <a:t> 조항이 법안에서 빠진다면, 오늘 </a:t>
            </a:r>
            <a:r>
              <a:rPr lang="en-US" dirty="0" err="1"/>
              <a:t>보여드린</a:t>
            </a:r>
            <a:r>
              <a:rPr lang="en-US" dirty="0"/>
              <a:t> </a:t>
            </a:r>
            <a:r>
              <a:rPr lang="ko-KR" altLang="en-US" dirty="0" err="1"/>
              <a:t>바이오통합데이터</a:t>
            </a:r>
            <a:r>
              <a:rPr lang="ko-KR" altLang="en-US" dirty="0"/>
              <a:t> 활용 지체 문제는</a:t>
            </a:r>
            <a:r>
              <a:rPr lang="en-US" dirty="0"/>
              <a:t> 그대로 남습니다. </a:t>
            </a:r>
          </a:p>
          <a:p>
            <a:endParaRPr lang="en-US" dirty="0"/>
          </a:p>
          <a:p>
            <a:r>
              <a:rPr lang="en-US" dirty="0" err="1"/>
              <a:t>핵심</a:t>
            </a:r>
            <a:r>
              <a:rPr lang="en-US" dirty="0"/>
              <a:t> 조항을 지켜 바이오데이터법을 반드시 제정해 주시기를 요청드립니다.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50초] </a:t>
            </a:r>
          </a:p>
          <a:p>
            <a:r>
              <a:rPr lang="ko-KR" altLang="en-US" dirty="0"/>
              <a:t>이번에는 </a:t>
            </a:r>
            <a:r>
              <a:rPr lang="en-US" dirty="0" err="1"/>
              <a:t>법과</a:t>
            </a:r>
            <a:r>
              <a:rPr lang="en-US" dirty="0"/>
              <a:t> 함께 추가로 고려해야 </a:t>
            </a:r>
            <a:r>
              <a:rPr lang="en-US" dirty="0" err="1"/>
              <a:t>할</a:t>
            </a:r>
            <a:r>
              <a:rPr lang="en-US" dirty="0"/>
              <a:t> </a:t>
            </a:r>
            <a:r>
              <a:rPr lang="en-US" dirty="0" err="1"/>
              <a:t>과제</a:t>
            </a:r>
            <a:r>
              <a:rPr lang="ko-KR" altLang="en-US" dirty="0" err="1"/>
              <a:t>를</a:t>
            </a:r>
            <a:r>
              <a:rPr lang="ko-KR" altLang="en-US" dirty="0"/>
              <a:t> </a:t>
            </a:r>
            <a:r>
              <a:rPr lang="ko-KR" altLang="en-US" dirty="0" err="1"/>
              <a:t>제안드립니다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 err="1"/>
              <a:t>첫째</a:t>
            </a:r>
            <a:r>
              <a:rPr lang="en-US" dirty="0"/>
              <a:t>, 법이 마련하는 통합 심의 위에 데이터 상태별 트랙과 처리기한을 정해야 </a:t>
            </a:r>
            <a:r>
              <a:rPr lang="en-US" dirty="0" err="1"/>
              <a:t>합니다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TrackA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dirty="0" err="1"/>
              <a:t>데이터전문기관에</a:t>
            </a:r>
            <a:r>
              <a:rPr lang="en-US" dirty="0"/>
              <a:t> 있는 가명처리 </a:t>
            </a:r>
            <a:r>
              <a:rPr lang="en-US" dirty="0" err="1"/>
              <a:t>완료</a:t>
            </a:r>
            <a:r>
              <a:rPr lang="en-US" dirty="0"/>
              <a:t> </a:t>
            </a:r>
            <a:r>
              <a:rPr lang="en-US" dirty="0" err="1"/>
              <a:t>데이터는</a:t>
            </a:r>
            <a:r>
              <a:rPr lang="en-US" altLang="ko-KR" dirty="0"/>
              <a:t>,</a:t>
            </a:r>
            <a:r>
              <a:rPr lang="en-US" dirty="0"/>
              <a:t> </a:t>
            </a:r>
            <a:r>
              <a:rPr lang="ko-KR" altLang="en-US" dirty="0"/>
              <a:t>사전 인증된 연구기관과 연구자에게 </a:t>
            </a:r>
            <a:r>
              <a:rPr lang="en-US" dirty="0" err="1"/>
              <a:t>IRB와</a:t>
            </a:r>
            <a:r>
              <a:rPr lang="en-US" dirty="0"/>
              <a:t> DRB를 모두 면제하고 활용계획 승인만으로 </a:t>
            </a:r>
            <a:r>
              <a:rPr lang="en-US" dirty="0" err="1"/>
              <a:t>쓰게</a:t>
            </a:r>
            <a:r>
              <a:rPr lang="en-US" dirty="0"/>
              <a:t> </a:t>
            </a:r>
            <a:r>
              <a:rPr lang="ko-KR" altLang="en-US" dirty="0"/>
              <a:t>해야 합니다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TrackB</a:t>
            </a:r>
            <a:r>
              <a:rPr lang="en-US" dirty="0"/>
              <a:t>: </a:t>
            </a:r>
            <a:r>
              <a:rPr lang="en-US" dirty="0" err="1"/>
              <a:t>가명처리</a:t>
            </a:r>
            <a:r>
              <a:rPr lang="en-US" dirty="0"/>
              <a:t> 판단이 필요한 데이터는 DRB가 1주 안에 판단하고, 판단 즉시 IRB </a:t>
            </a:r>
            <a:r>
              <a:rPr lang="en-US" dirty="0" err="1"/>
              <a:t>면제로</a:t>
            </a:r>
            <a:r>
              <a:rPr lang="en-US" dirty="0"/>
              <a:t> </a:t>
            </a:r>
            <a:r>
              <a:rPr lang="en-US" dirty="0" err="1"/>
              <a:t>연결</a:t>
            </a:r>
            <a:r>
              <a:rPr lang="ko-KR" altLang="en-US" dirty="0"/>
              <a:t>해야 합니다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TrackC</a:t>
            </a:r>
            <a:r>
              <a:rPr lang="en-US" dirty="0"/>
              <a:t>: </a:t>
            </a:r>
            <a:r>
              <a:rPr lang="en-US" dirty="0" err="1"/>
              <a:t>식별정보가</a:t>
            </a:r>
            <a:r>
              <a:rPr lang="en-US" dirty="0"/>
              <a:t> 포함된 데이터만 기존 심의를 받되, </a:t>
            </a:r>
            <a:r>
              <a:rPr lang="en-US" dirty="0" err="1"/>
              <a:t>한</a:t>
            </a:r>
            <a:r>
              <a:rPr lang="en-US" dirty="0"/>
              <a:t> </a:t>
            </a:r>
            <a:r>
              <a:rPr lang="en-US" dirty="0" err="1"/>
              <a:t>창구에서</a:t>
            </a:r>
            <a:r>
              <a:rPr lang="en-US" dirty="0"/>
              <a:t> IRB-DRB</a:t>
            </a:r>
            <a:r>
              <a:rPr lang="ko-KR" altLang="en-US" dirty="0"/>
              <a:t>를 </a:t>
            </a:r>
            <a:r>
              <a:rPr lang="en-US" dirty="0" err="1"/>
              <a:t>동시에</a:t>
            </a:r>
            <a:r>
              <a:rPr lang="en-US" dirty="0"/>
              <a:t> </a:t>
            </a:r>
            <a:r>
              <a:rPr lang="en-US" dirty="0" err="1"/>
              <a:t>처리</a:t>
            </a:r>
            <a:r>
              <a:rPr lang="ko-KR" altLang="en-US" dirty="0"/>
              <a:t>가 필요합니다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같은</a:t>
            </a:r>
            <a:r>
              <a:rPr lang="en-US" dirty="0"/>
              <a:t> 데이터를 두 번 심의하지 </a:t>
            </a:r>
            <a:r>
              <a:rPr lang="en-US" dirty="0" err="1"/>
              <a:t>않는다는</a:t>
            </a:r>
            <a:r>
              <a:rPr lang="en-US" dirty="0"/>
              <a:t> </a:t>
            </a:r>
            <a:r>
              <a:rPr lang="en-US" dirty="0" err="1"/>
              <a:t>원칙</a:t>
            </a:r>
            <a:r>
              <a:rPr lang="ko-KR" altLang="en-US" dirty="0"/>
              <a:t>이 필요합니다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55초] </a:t>
            </a:r>
          </a:p>
          <a:p>
            <a:r>
              <a:rPr lang="en-US" dirty="0" err="1"/>
              <a:t>둘째</a:t>
            </a:r>
            <a:r>
              <a:rPr lang="en-US" dirty="0"/>
              <a:t>, 가명처리 판단기준입니다. </a:t>
            </a:r>
          </a:p>
          <a:p>
            <a:endParaRPr lang="en-US" dirty="0"/>
          </a:p>
          <a:p>
            <a:r>
              <a:rPr lang="en-US" dirty="0" err="1"/>
              <a:t>법이</a:t>
            </a:r>
            <a:r>
              <a:rPr lang="en-US" dirty="0"/>
              <a:t> 가명바이오데이터의 근거를 만들더라도, 무엇을 지우면 가명정보인지 구체적인 기준이 없으면 현장은 움직이지 않습니다. </a:t>
            </a:r>
          </a:p>
          <a:p>
            <a:endParaRPr lang="en-US" dirty="0"/>
          </a:p>
          <a:p>
            <a:r>
              <a:rPr lang="en-US" dirty="0" err="1"/>
              <a:t>미국</a:t>
            </a:r>
            <a:r>
              <a:rPr lang="en-US" dirty="0"/>
              <a:t> HIPAA Safe Harbor는 18개 식별자를 지우면 비식별 정보로 봅니다. 우리도 이런 한국형 기준을 하위법령에 두고, 기준을 지킨 기관은 책임을 면하게 해야 합니다. </a:t>
            </a:r>
          </a:p>
          <a:p>
            <a:endParaRPr lang="en-US" dirty="0"/>
          </a:p>
          <a:p>
            <a:r>
              <a:rPr lang="en-US" dirty="0" err="1"/>
              <a:t>특히</a:t>
            </a:r>
            <a:r>
              <a:rPr lang="en-US" dirty="0"/>
              <a:t> 유전체에 대한 오해를 바로잡아야 합니다. 유전체 서열 자체는 이름이나 주민번호 같은 식별자가 아닙니다. </a:t>
            </a:r>
          </a:p>
          <a:p>
            <a:endParaRPr lang="en-US" dirty="0"/>
          </a:p>
          <a:p>
            <a:r>
              <a:rPr lang="en-US" dirty="0" err="1"/>
              <a:t>다른</a:t>
            </a:r>
            <a:r>
              <a:rPr lang="en-US" dirty="0"/>
              <a:t> 정보와 결합할 때 식별 가능성이 </a:t>
            </a:r>
            <a:r>
              <a:rPr lang="en-US" dirty="0" err="1"/>
              <a:t>생기는</a:t>
            </a:r>
            <a:r>
              <a:rPr lang="en-US" dirty="0"/>
              <a:t> </a:t>
            </a:r>
            <a:r>
              <a:rPr lang="ko-KR" altLang="en-US" dirty="0"/>
              <a:t>민감한 </a:t>
            </a:r>
            <a:r>
              <a:rPr lang="en-US" dirty="0" err="1"/>
              <a:t>가명정보입니다</a:t>
            </a:r>
            <a:r>
              <a:rPr lang="en-US" dirty="0"/>
              <a:t>. 다른 인체유래물 데이터와 같은 기준으로 다루고, 희귀변이 같은 고위험 정보는 배제가 </a:t>
            </a:r>
            <a:r>
              <a:rPr lang="en-US" dirty="0" err="1"/>
              <a:t>아니라</a:t>
            </a:r>
            <a:r>
              <a:rPr lang="en-US" dirty="0"/>
              <a:t> </a:t>
            </a:r>
            <a:r>
              <a:rPr lang="en-US" dirty="0" err="1"/>
              <a:t>범주화와</a:t>
            </a:r>
            <a:r>
              <a:rPr lang="en-US" dirty="0"/>
              <a:t> </a:t>
            </a:r>
            <a:r>
              <a:rPr lang="en-US" dirty="0" err="1"/>
              <a:t>접근</a:t>
            </a:r>
            <a:r>
              <a:rPr lang="ko-KR" altLang="en-US" dirty="0"/>
              <a:t> </a:t>
            </a:r>
            <a:r>
              <a:rPr lang="en-US" dirty="0" err="1"/>
              <a:t>등급으로</a:t>
            </a:r>
            <a:r>
              <a:rPr lang="en-US" dirty="0"/>
              <a:t> </a:t>
            </a:r>
            <a:r>
              <a:rPr lang="en-US" dirty="0" err="1"/>
              <a:t>관리하</a:t>
            </a:r>
            <a:r>
              <a:rPr lang="ko-KR" altLang="en-US" dirty="0"/>
              <a:t>여</a:t>
            </a:r>
            <a:r>
              <a:rPr lang="en-US" altLang="ko-KR" dirty="0"/>
              <a:t>,</a:t>
            </a:r>
            <a:r>
              <a:rPr lang="ko-KR" altLang="en-US" dirty="0"/>
              <a:t> 희귀유전질환 환자의 희망을 저버려서는 안됩니다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50초] </a:t>
            </a:r>
          </a:p>
          <a:p>
            <a:r>
              <a:rPr lang="en-US" dirty="0" err="1"/>
              <a:t>셋째</a:t>
            </a:r>
            <a:r>
              <a:rPr lang="en-US" dirty="0"/>
              <a:t>, 탐색적 연구를 허용해야 합니다. </a:t>
            </a:r>
          </a:p>
          <a:p>
            <a:endParaRPr lang="en-US" dirty="0"/>
          </a:p>
          <a:p>
            <a:r>
              <a:rPr lang="en-US" dirty="0" err="1"/>
              <a:t>심사의</a:t>
            </a:r>
            <a:r>
              <a:rPr lang="en-US" dirty="0"/>
              <a:t> 대상을 </a:t>
            </a:r>
            <a:r>
              <a:rPr lang="en-US" b="1" dirty="0" err="1"/>
              <a:t>과제</a:t>
            </a:r>
            <a:r>
              <a:rPr lang="en-US" dirty="0" err="1"/>
              <a:t>에서</a:t>
            </a:r>
            <a:r>
              <a:rPr lang="en-US" dirty="0"/>
              <a:t> </a:t>
            </a:r>
            <a:r>
              <a:rPr lang="ko-KR" altLang="en-US" b="1" dirty="0"/>
              <a:t>연구자와</a:t>
            </a:r>
            <a:r>
              <a:rPr lang="en-US" b="1" dirty="0"/>
              <a:t> 환경으로 </a:t>
            </a:r>
            <a:r>
              <a:rPr lang="en-US" dirty="0"/>
              <a:t>옮기자는 것입니다. </a:t>
            </a:r>
          </a:p>
          <a:p>
            <a:endParaRPr lang="en-US" dirty="0"/>
          </a:p>
          <a:p>
            <a:r>
              <a:rPr lang="en-US" dirty="0" err="1"/>
              <a:t>기관</a:t>
            </a:r>
            <a:r>
              <a:rPr lang="en-US" dirty="0"/>
              <a:t> 협약, 연구윤리·보안 교육, 재식별 금지 서약을 마친 전문가는 화이트리스트로 관리하고, </a:t>
            </a:r>
            <a:r>
              <a:rPr lang="en-US" dirty="0" err="1"/>
              <a:t>이들의</a:t>
            </a:r>
            <a:r>
              <a:rPr lang="en-US" dirty="0"/>
              <a:t> </a:t>
            </a:r>
            <a:r>
              <a:rPr lang="ko-KR" altLang="en-US" dirty="0"/>
              <a:t>데이터 접근</a:t>
            </a:r>
            <a:r>
              <a:rPr lang="en-US" dirty="0" err="1"/>
              <a:t>은</a:t>
            </a:r>
            <a:r>
              <a:rPr lang="en-US" dirty="0"/>
              <a:t> </a:t>
            </a:r>
            <a:r>
              <a:rPr lang="ko-KR" altLang="en-US" dirty="0"/>
              <a:t>인증을 통해 </a:t>
            </a:r>
            <a:r>
              <a:rPr lang="en-US" dirty="0" err="1"/>
              <a:t>자동으로</a:t>
            </a:r>
            <a:r>
              <a:rPr lang="en-US" dirty="0"/>
              <a:t> </a:t>
            </a:r>
            <a:r>
              <a:rPr lang="en-US" dirty="0" err="1"/>
              <a:t>승인</a:t>
            </a:r>
            <a:r>
              <a:rPr lang="ko-KR" altLang="en-US" dirty="0"/>
              <a:t>하도록 할 필요가 있습니다</a:t>
            </a:r>
            <a:r>
              <a:rPr lang="en-US" altLang="ko-KR" dirty="0"/>
              <a:t>.</a:t>
            </a:r>
          </a:p>
          <a:p>
            <a:r>
              <a:rPr lang="en-US" dirty="0"/>
              <a:t> </a:t>
            </a:r>
          </a:p>
          <a:p>
            <a:r>
              <a:rPr lang="en-US" dirty="0" err="1"/>
              <a:t>신청</a:t>
            </a:r>
            <a:r>
              <a:rPr lang="en-US" dirty="0"/>
              <a:t> 범위는 연구영역과 데이터 카탈로그 단위로 넓히고, 탐색 중 데이터를 추가할 때는 </a:t>
            </a:r>
            <a:r>
              <a:rPr lang="en-US" dirty="0" err="1"/>
              <a:t>신고로</a:t>
            </a:r>
            <a:r>
              <a:rPr lang="en-US" dirty="0"/>
              <a:t> </a:t>
            </a:r>
            <a:r>
              <a:rPr lang="en-US" dirty="0" err="1"/>
              <a:t>갈</a:t>
            </a:r>
            <a:r>
              <a:rPr lang="ko-KR" altLang="en-US" dirty="0" err="1"/>
              <a:t>음하도록</a:t>
            </a:r>
            <a:r>
              <a:rPr lang="ko-KR" altLang="en-US" dirty="0"/>
              <a:t> 해야 합니다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분석환경은</a:t>
            </a:r>
            <a:r>
              <a:rPr lang="en-US" dirty="0"/>
              <a:t> 인터넷이 </a:t>
            </a:r>
            <a:r>
              <a:rPr lang="en-US" dirty="0" err="1"/>
              <a:t>차단된</a:t>
            </a:r>
            <a:r>
              <a:rPr lang="en-US" dirty="0"/>
              <a:t> </a:t>
            </a:r>
            <a:r>
              <a:rPr lang="en-US" dirty="0" err="1"/>
              <a:t>폐쇄</a:t>
            </a:r>
            <a:r>
              <a:rPr lang="ko-KR" altLang="en-US" dirty="0"/>
              <a:t>환경</a:t>
            </a:r>
            <a:r>
              <a:rPr lang="en-US" dirty="0" err="1"/>
              <a:t>이</a:t>
            </a:r>
            <a:r>
              <a:rPr lang="en-US" dirty="0"/>
              <a:t> 아니라 인증 클라우드와 기관 </a:t>
            </a:r>
            <a:r>
              <a:rPr lang="en-US" dirty="0" err="1"/>
              <a:t>보안서버로</a:t>
            </a:r>
            <a:r>
              <a:rPr lang="en-US" dirty="0"/>
              <a:t> </a:t>
            </a:r>
            <a:r>
              <a:rPr lang="ko-KR" altLang="en-US" dirty="0" err="1"/>
              <a:t>접근가능하도록</a:t>
            </a:r>
            <a:r>
              <a:rPr lang="ko-KR" altLang="en-US" dirty="0"/>
              <a:t> 해야 합니다</a:t>
            </a:r>
            <a:r>
              <a:rPr lang="en-US" altLang="ko-KR" dirty="0"/>
              <a:t>.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대신</a:t>
            </a:r>
            <a:r>
              <a:rPr lang="en-US" dirty="0"/>
              <a:t> 위반 시 자격 박탈과 </a:t>
            </a:r>
            <a:r>
              <a:rPr lang="en-US" dirty="0" err="1"/>
              <a:t>제재를</a:t>
            </a:r>
            <a:r>
              <a:rPr lang="en-US" dirty="0"/>
              <a:t> </a:t>
            </a:r>
            <a:r>
              <a:rPr lang="en-US" dirty="0" err="1"/>
              <a:t>분명히</a:t>
            </a:r>
            <a:r>
              <a:rPr lang="ko-KR" altLang="en-US" dirty="0"/>
              <a:t> 하도록 할 필요가 있습니다</a:t>
            </a:r>
            <a:r>
              <a:rPr lang="en-US" dirty="0"/>
              <a:t>. </a:t>
            </a:r>
            <a:r>
              <a:rPr lang="ko-KR" altLang="en-US" dirty="0"/>
              <a:t>해외에서도 </a:t>
            </a:r>
            <a:r>
              <a:rPr lang="en-US" dirty="0" err="1"/>
              <a:t>이미</a:t>
            </a:r>
            <a:r>
              <a:rPr lang="en-US" dirty="0"/>
              <a:t> </a:t>
            </a:r>
            <a:r>
              <a:rPr lang="en-US" dirty="0" err="1"/>
              <a:t>이렇게</a:t>
            </a:r>
            <a:r>
              <a:rPr lang="en-US" dirty="0"/>
              <a:t> </a:t>
            </a:r>
            <a:r>
              <a:rPr lang="en-US" dirty="0" err="1"/>
              <a:t>운영</a:t>
            </a:r>
            <a:r>
              <a:rPr lang="ko-KR" altLang="en-US" dirty="0"/>
              <a:t>되</a:t>
            </a:r>
            <a:r>
              <a:rPr lang="en-US" dirty="0" err="1"/>
              <a:t>고</a:t>
            </a:r>
            <a:r>
              <a:rPr lang="en-US" dirty="0"/>
              <a:t>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40초] </a:t>
            </a:r>
          </a:p>
          <a:p>
            <a:r>
              <a:rPr lang="ko-KR" altLang="en-US" dirty="0"/>
              <a:t> </a:t>
            </a:r>
            <a:r>
              <a:rPr lang="en-US" dirty="0" err="1"/>
              <a:t>넷째</a:t>
            </a:r>
            <a:r>
              <a:rPr lang="en-US" dirty="0"/>
              <a:t>, 결합과 호스팅의 운영 설계입니다. </a:t>
            </a:r>
          </a:p>
          <a:p>
            <a:r>
              <a:rPr lang="ko-KR" altLang="en-US" dirty="0"/>
              <a:t> </a:t>
            </a:r>
            <a:r>
              <a:rPr lang="en-US" dirty="0" err="1"/>
              <a:t>법이</a:t>
            </a:r>
            <a:r>
              <a:rPr lang="en-US" dirty="0"/>
              <a:t> 보건의료정보 연계 근거를 만들면, 그 위에서 결합전문기관이 연구용 가명키로 결합하고, </a:t>
            </a:r>
            <a:r>
              <a:rPr lang="en-US" dirty="0" err="1"/>
              <a:t>결합</a:t>
            </a:r>
            <a:r>
              <a:rPr lang="en-US" dirty="0"/>
              <a:t> 후 가명처리한 데이터를 데이터전문기관이 호스팅해야 합니다. </a:t>
            </a:r>
          </a:p>
          <a:p>
            <a:endParaRPr lang="en-US" dirty="0"/>
          </a:p>
          <a:p>
            <a:r>
              <a:rPr lang="ko-KR" altLang="en-US" dirty="0"/>
              <a:t> </a:t>
            </a:r>
            <a:r>
              <a:rPr lang="en-US" dirty="0"/>
              <a:t>R&amp;D 데이터 생산 단계부터 결합키를 표준화하고, 한 번 결합한 데이터는 후속 연구에 재심의 없이 제공해야 합니다. </a:t>
            </a:r>
          </a:p>
          <a:p>
            <a:endParaRPr lang="en-US" dirty="0"/>
          </a:p>
          <a:p>
            <a:r>
              <a:rPr lang="ko-KR" altLang="en-US" dirty="0"/>
              <a:t> </a:t>
            </a:r>
            <a:r>
              <a:rPr lang="en-US" dirty="0" err="1"/>
              <a:t>한</a:t>
            </a:r>
            <a:r>
              <a:rPr lang="en-US" dirty="0"/>
              <a:t> 번 결합하고 여러 번 </a:t>
            </a:r>
            <a:r>
              <a:rPr lang="en-US" dirty="0" err="1"/>
              <a:t>쓰는</a:t>
            </a:r>
            <a:r>
              <a:rPr lang="en-US" dirty="0"/>
              <a:t> </a:t>
            </a:r>
            <a:r>
              <a:rPr lang="en-US" dirty="0" err="1"/>
              <a:t>구조</a:t>
            </a:r>
            <a:r>
              <a:rPr lang="ko-KR" altLang="en-US" dirty="0"/>
              <a:t>로 만들어야</a:t>
            </a:r>
            <a:r>
              <a:rPr lang="en-US" altLang="ko-KR" dirty="0"/>
              <a:t>,</a:t>
            </a:r>
            <a:r>
              <a:rPr lang="ko-KR" altLang="en-US" dirty="0"/>
              <a:t> 중복</a:t>
            </a:r>
            <a:r>
              <a:rPr lang="en-US" altLang="ko-KR" dirty="0"/>
              <a:t>/</a:t>
            </a:r>
            <a:r>
              <a:rPr lang="ko-KR" altLang="en-US" dirty="0"/>
              <a:t>반복심의 비효율성을 없앨 수 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[약 60초] </a:t>
            </a:r>
          </a:p>
          <a:p>
            <a:r>
              <a:rPr lang="en-US" dirty="0" err="1"/>
              <a:t>마무리하겠습니다</a:t>
            </a:r>
            <a:r>
              <a:rPr lang="en-US" dirty="0"/>
              <a:t>. </a:t>
            </a:r>
          </a:p>
          <a:p>
            <a:r>
              <a:rPr lang="ko-KR" altLang="en-US" dirty="0"/>
              <a:t> </a:t>
            </a:r>
            <a:endParaRPr lang="en-US" dirty="0"/>
          </a:p>
          <a:p>
            <a:r>
              <a:rPr lang="ko-KR" altLang="en-US" dirty="0"/>
              <a:t> </a:t>
            </a:r>
            <a:r>
              <a:rPr lang="en-US" dirty="0" err="1"/>
              <a:t>민감정보</a:t>
            </a:r>
            <a:r>
              <a:rPr lang="en-US" dirty="0"/>
              <a:t> 보호는 중요합니다. 그러나 데이터를 쓰지 못해 치료법 개발이 늦어지는 것 또한 국민 건강에 대한 비용입니다. </a:t>
            </a:r>
          </a:p>
          <a:p>
            <a:endParaRPr lang="en-US" dirty="0"/>
          </a:p>
          <a:p>
            <a:r>
              <a:rPr lang="ko-KR" altLang="en-US" dirty="0"/>
              <a:t> </a:t>
            </a:r>
            <a:r>
              <a:rPr lang="en-US" dirty="0" err="1"/>
              <a:t>안전과</a:t>
            </a:r>
            <a:r>
              <a:rPr lang="en-US" dirty="0"/>
              <a:t> 활용은 양자택일이 아닙니다. 검증된 사람에게, 검증된 환경에서, 빠르게 열어 주시기를 부탁드립니다. </a:t>
            </a:r>
          </a:p>
          <a:p>
            <a:endParaRPr lang="en-US" dirty="0"/>
          </a:p>
          <a:p>
            <a:r>
              <a:rPr lang="ko-KR" altLang="en-US" dirty="0"/>
              <a:t>  </a:t>
            </a:r>
            <a:r>
              <a:rPr lang="en-US" dirty="0" err="1"/>
              <a:t>감사합니다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566400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423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433241"/>
            <a:ext cx="10566400" cy="361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566400" cy="92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14233B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433241"/>
            <a:ext cx="10566400" cy="361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E8A93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3" name="Text 1"/>
          <p:cNvSpPr/>
          <p:nvPr/>
        </p:nvSpPr>
        <p:spPr>
          <a:xfrm>
            <a:off x="812800" y="1611114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5CC8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 활용 촉진에 관한 법률 제정을 위한 토론회 · 발제 1</a:t>
            </a:r>
            <a:endParaRPr lang="en-US" sz="13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096195"/>
            <a:ext cx="10883392" cy="128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940"/>
              </a:lnSpc>
              <a:buNone/>
            </a:pPr>
            <a:r>
              <a:rPr lang="en-US" sz="3800" b="1" i="0" dirty="0">
                <a:solidFill>
                  <a:srgbClr val="F4F2EC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AI 바이오 현장에서 바라본</a:t>
            </a:r>
            <a:endParaRPr lang="en-US" sz="3800" dirty="0"/>
          </a:p>
          <a:p>
            <a:pPr marL="0" indent="0" algn="l">
              <a:lnSpc>
                <a:spcPts val="4940"/>
              </a:lnSpc>
              <a:buNone/>
            </a:pPr>
            <a:r>
              <a:rPr lang="en-US" sz="3800" b="1" i="0" dirty="0">
                <a:solidFill>
                  <a:srgbClr val="F4F2EC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바이오데이터 활용 필요성과 개선 과제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12800" y="3604915"/>
            <a:ext cx="1088339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신청부터 활용까지 2주 — 글로벌 수준의 바이오데이터 접근 체계를 위하여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12800" y="4189115"/>
            <a:ext cx="10566400" cy="0"/>
          </a:xfrm>
          <a:prstGeom prst="line">
            <a:avLst/>
          </a:prstGeom>
          <a:noFill/>
          <a:ln w="12700">
            <a:solidFill>
              <a:srgbClr val="3A4E6B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7" name="Text 5"/>
          <p:cNvSpPr/>
          <p:nvPr/>
        </p:nvSpPr>
        <p:spPr>
          <a:xfrm>
            <a:off x="812800" y="4398665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남진우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4733925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r>
              <a:rPr lang="ko-KR" altLang="en-US" sz="1300" dirty="0" err="1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문샷</a:t>
            </a:r>
            <a:r>
              <a:rPr lang="ko-KR" altLang="en-US" sz="1300" dirty="0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300" dirty="0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300" dirty="0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신약 미션 </a:t>
            </a:r>
            <a:r>
              <a:rPr lang="en-US" altLang="ko-KR" sz="1300" dirty="0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PD, </a:t>
            </a:r>
            <a:r>
              <a:rPr lang="en-US" sz="1300" dirty="0" err="1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한양대학교</a:t>
            </a:r>
            <a:r>
              <a:rPr lang="en-US" sz="1300" dirty="0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생명과학과 교수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5015805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B9C6D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10. 19.(월) · 국회의원회관 제1세미나실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Ⅰ. 왜 바이오데이터인가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547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AI 바이오의 경쟁력은 모델보다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'연결된 데이터'에서 나온다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461816"/>
            <a:ext cx="3380284" cy="192147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5" name="Text 3"/>
          <p:cNvSpPr/>
          <p:nvPr/>
        </p:nvSpPr>
        <p:spPr>
          <a:xfrm>
            <a:off x="1047750" y="2693591"/>
            <a:ext cx="30042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0B6E7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2.6배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47750" y="3328591"/>
            <a:ext cx="300423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인체 유전학 근거가 있는 표적의 임상개발 성공 확률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5525" y="3984607"/>
            <a:ext cx="3236011" cy="299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US" sz="10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Minikel et al., </a:t>
            </a:r>
            <a:r>
              <a:rPr lang="en-US" altLang="ko-Kore-US" sz="10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</a:rPr>
              <a:t>Refining the impact of genetic evidence on clinical success</a:t>
            </a:r>
            <a:r>
              <a:rPr lang="en-US" altLang="ko-KR" sz="10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</a:rPr>
              <a:t>.</a:t>
            </a:r>
            <a:r>
              <a:rPr lang="ko-KR" altLang="en-US" sz="10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</a:rPr>
              <a:t> </a:t>
            </a:r>
            <a:r>
              <a:rPr lang="en-US" sz="1000" i="1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Nature </a:t>
            </a:r>
            <a:r>
              <a:rPr lang="en-US" sz="10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2024</a:t>
            </a:r>
            <a:r>
              <a:rPr lang="en-US" altLang="ko-KR" sz="10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r>
              <a:rPr lang="ko-KR" altLang="en-US" sz="10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05809" y="2461816"/>
            <a:ext cx="3380383" cy="192147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9" name="Text 7"/>
          <p:cNvSpPr/>
          <p:nvPr/>
        </p:nvSpPr>
        <p:spPr>
          <a:xfrm>
            <a:off x="4637584" y="2693591"/>
            <a:ext cx="300433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0B6E7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25~50%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37584" y="3328591"/>
            <a:ext cx="300433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시 신약 탐색·전임상 </a:t>
            </a:r>
            <a:r>
              <a:rPr lang="en-US" sz="1400" dirty="0" err="1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단계의</a:t>
            </a:r>
            <a:r>
              <a:rPr lang="en-US" sz="14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sz="1400" dirty="0" err="1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기간·비용</a:t>
            </a:r>
            <a:r>
              <a:rPr lang="en-US" sz="14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절감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37584" y="3938191"/>
            <a:ext cx="300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BCG, Unlocking the Potential of AI in Drug Discovery 2023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5741" y="2461816"/>
            <a:ext cx="3380284" cy="1921470"/>
          </a:xfrm>
          <a:prstGeom prst="roundRect">
            <a:avLst>
              <a:gd name="adj" fmla="val 3800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3" name="Text 11"/>
          <p:cNvSpPr/>
          <p:nvPr/>
        </p:nvSpPr>
        <p:spPr>
          <a:xfrm>
            <a:off x="8227516" y="2693591"/>
            <a:ext cx="300423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0B6E7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2만 명+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7516" y="3328591"/>
            <a:ext cx="3004236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UK Biobank 데이터 </a:t>
            </a:r>
            <a:r>
              <a:rPr lang="en-US" sz="1200" dirty="0" err="1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</a:t>
            </a:r>
            <a:r>
              <a:rPr 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승인</a:t>
            </a:r>
            <a:r>
              <a:rPr 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— </a:t>
            </a:r>
            <a:r>
              <a:rPr lang="ko-KR" alt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전세계 연구자 영국인 질병연구 </a:t>
            </a:r>
            <a:r>
              <a:rPr lang="en-US" altLang="ko-KR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itchFamily="2" charset="2"/>
              </a:rPr>
              <a:t></a:t>
            </a:r>
            <a:r>
              <a:rPr lang="ko-KR" alt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  <a:sym typeface="Wingdings" pitchFamily="2" charset="2"/>
              </a:rPr>
              <a:t> </a:t>
            </a:r>
            <a:r>
              <a:rPr lang="en-US" sz="1200" dirty="0" err="1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개방이</a:t>
            </a:r>
            <a:r>
              <a:rPr 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곧 성과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7516" y="3938191"/>
            <a:ext cx="30042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UK Biobank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665861"/>
            <a:ext cx="10566400" cy="641350"/>
          </a:xfrm>
          <a:prstGeom prst="roundRect">
            <a:avLst>
              <a:gd name="adj" fmla="val 11881"/>
            </a:avLst>
          </a:prstGeom>
          <a:solidFill>
            <a:srgbClr val="E4EEEF"/>
          </a:solidFill>
          <a:ln/>
        </p:spPr>
        <p:txBody>
          <a:bodyPr wrap="square" lIns="206282" tIns="155482" rIns="0" bIns="130082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보건의료데이터</a:t>
            </a:r>
            <a:r>
              <a:rPr lang="en-US" sz="12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(진료·처방·경과) 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× </a:t>
            </a: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인체유래물데이터</a:t>
            </a:r>
            <a:r>
              <a:rPr lang="en-US" sz="12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(유전체·전사체·단백체)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 결합될 때 </a:t>
            </a:r>
            <a:r>
              <a:rPr lang="en-US" sz="15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</a:t>
            </a:r>
            <a:r>
              <a:rPr lang="ko-KR" alt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</a:t>
            </a:r>
            <a:r>
              <a:rPr lang="en-US" altLang="ko-KR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’</a:t>
            </a:r>
            <a:r>
              <a:rPr lang="en-US" sz="15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</a:t>
            </a: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기전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'을 함께 배운다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Ⅰ. 활용 사례 ① 신약개발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ko-KR" alt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치료 </a:t>
            </a:r>
            <a:r>
              <a:rPr lang="en-US" sz="2800" b="1" i="0" dirty="0" err="1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표적</a:t>
            </a: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 </a:t>
            </a:r>
            <a:r>
              <a:rPr lang="en-US" sz="2800" b="1" i="0" dirty="0" err="1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발굴과</a:t>
            </a: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 </a:t>
            </a:r>
            <a:r>
              <a:rPr lang="ko-KR" alt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신약 </a:t>
            </a:r>
            <a:r>
              <a:rPr lang="en-US" sz="2800" b="1" i="0" dirty="0" err="1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독성</a:t>
            </a: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 예측은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환자 데이터와 만나야 완성된다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411016"/>
            <a:ext cx="5175250" cy="2320131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5" name="Text 3"/>
          <p:cNvSpPr/>
          <p:nvPr/>
        </p:nvSpPr>
        <p:spPr>
          <a:xfrm>
            <a:off x="1047750" y="2642791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u="sng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표적 발굴 · 적응증 선정</a:t>
            </a:r>
            <a:endParaRPr lang="en-US" sz="1800" u="sng" dirty="0"/>
          </a:p>
        </p:txBody>
      </p:sp>
      <p:sp>
        <p:nvSpPr>
          <p:cNvPr id="6" name="Text 4"/>
          <p:cNvSpPr/>
          <p:nvPr/>
        </p:nvSpPr>
        <p:spPr>
          <a:xfrm>
            <a:off x="1047750" y="3018631"/>
            <a:ext cx="5062601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인체유래물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GWAS·생식세포 변이, </a:t>
            </a:r>
            <a:r>
              <a:rPr lang="en-US" sz="14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단일세포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RNA-seq</a:t>
            </a:r>
            <a:r>
              <a:rPr lang="en-US" altLang="ko-KR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perturb</a:t>
            </a:r>
            <a:r>
              <a:rPr lang="en-US" altLang="ko-KR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보건의료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환자 질환 진행·치료 경과(EMR)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47750" y="3866356"/>
            <a:ext cx="4711700" cy="0"/>
          </a:xfrm>
          <a:prstGeom prst="line">
            <a:avLst/>
          </a:prstGeom>
          <a:noFill/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8" name="Text 6"/>
          <p:cNvSpPr/>
          <p:nvPr/>
        </p:nvSpPr>
        <p:spPr>
          <a:xfrm>
            <a:off x="1047750" y="3971131"/>
            <a:ext cx="485305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질환 연관 유전자 도출 → 세포 수준 발현 확인 → 표현형 변화 검증 → </a:t>
            </a:r>
            <a:r>
              <a:rPr lang="en-US" sz="1300" b="1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환자 경과와 연결해 우선순위 확정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0775" y="2411016"/>
            <a:ext cx="5175250" cy="2320131"/>
          </a:xfrm>
          <a:prstGeom prst="roundRect">
            <a:avLst>
              <a:gd name="adj" fmla="val 3147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0" name="Text 8"/>
          <p:cNvSpPr/>
          <p:nvPr/>
        </p:nvSpPr>
        <p:spPr>
          <a:xfrm>
            <a:off x="6432550" y="2642791"/>
            <a:ext cx="4853051" cy="299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u="sng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독성 · 이상반응 예측</a:t>
            </a:r>
            <a:endParaRPr lang="en-US" sz="1800" u="sng" dirty="0"/>
          </a:p>
        </p:txBody>
      </p:sp>
      <p:sp>
        <p:nvSpPr>
          <p:cNvPr id="11" name="Text 9"/>
          <p:cNvSpPr/>
          <p:nvPr/>
        </p:nvSpPr>
        <p:spPr>
          <a:xfrm>
            <a:off x="6432550" y="3018631"/>
            <a:ext cx="4853051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인체유래물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간·심장 오가노이드 독성반응, 전사체 변화</a:t>
            </a:r>
            <a:endParaRPr lang="en-US" sz="1400" dirty="0"/>
          </a:p>
          <a:p>
            <a:pPr marL="0" indent="0" algn="l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보건의료</a:t>
            </a: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환자 이상반응 보고, 처방·검사 기록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32549" y="3786981"/>
            <a:ext cx="4711700" cy="0"/>
          </a:xfrm>
          <a:prstGeom prst="line">
            <a:avLst/>
          </a:prstGeom>
          <a:noFill/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3" name="Text 11"/>
          <p:cNvSpPr/>
          <p:nvPr/>
        </p:nvSpPr>
        <p:spPr>
          <a:xfrm>
            <a:off x="6432549" y="3914604"/>
            <a:ext cx="485305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오가노이드 독성 + 화합물 구조 학습 → </a:t>
            </a:r>
            <a:r>
              <a:rPr lang="en-US" sz="1300" b="1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환자 이상반응으로 검증·보정</a:t>
            </a:r>
            <a:r>
              <a:rPr lang="en-US" sz="13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→ 후보물질 독성 사전예측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31850" y="4988322"/>
            <a:ext cx="0" cy="317500"/>
          </a:xfrm>
          <a:prstGeom prst="line">
            <a:avLst/>
          </a:prstGeom>
          <a:noFill/>
          <a:ln w="38100">
            <a:solidFill>
              <a:srgbClr val="A8441A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5" name="Text 13"/>
          <p:cNvSpPr/>
          <p:nvPr/>
        </p:nvSpPr>
        <p:spPr>
          <a:xfrm>
            <a:off x="1028700" y="5013722"/>
            <a:ext cx="106610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데이터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만으로는 실제 </a:t>
            </a: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환자의 복합 부작용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을, </a:t>
            </a: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진료 데이터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만으로는 </a:t>
            </a:r>
            <a:r>
              <a:rPr lang="en-US" sz="14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분자</a:t>
            </a: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기전</a:t>
            </a:r>
            <a:r>
              <a:rPr lang="en-US" altLang="ko-KR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ko-KR" alt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신약개발 필수</a:t>
            </a:r>
            <a:r>
              <a:rPr lang="en-US" altLang="ko-KR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14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설명할 수 없다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Ⅰ. 활용 사례 ② 정밀의료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정밀의료는 동일 환자의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'유전체 + 치료 이력 + 경과'에서 출발한다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411016"/>
            <a:ext cx="3397250" cy="2477393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5" name="Text 3"/>
          <p:cNvSpPr/>
          <p:nvPr/>
        </p:nvSpPr>
        <p:spPr>
          <a:xfrm>
            <a:off x="1022350" y="2617391"/>
            <a:ext cx="307403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 정밀의료 · 항암제 반응 예측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22350" y="2950071"/>
            <a:ext cx="307403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종양 유전체·공간전사체 + EMR 치료·반응 + 오가노이드 약물반응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2350" y="3511252"/>
            <a:ext cx="3074035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면역항암 반응 예측, 변이별 최적 약물·용량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2350" y="3836293"/>
            <a:ext cx="2984500" cy="609600"/>
          </a:xfrm>
          <a:prstGeom prst="roundRect">
            <a:avLst>
              <a:gd name="adj" fmla="val 8333"/>
            </a:avLst>
          </a:prstGeom>
          <a:solidFill>
            <a:srgbClr val="E4EEEF"/>
          </a:solidFill>
          <a:ln/>
        </p:spPr>
        <p:txBody>
          <a:bodyPr wrap="square" lIns="86721" tIns="61321" rIns="3282" bIns="35921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美 AACR Project GENIE: 다기관 암 유전체 + 장기 임상성과 연계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97375" y="2411016"/>
            <a:ext cx="3397250" cy="2477393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0" name="Text 8"/>
          <p:cNvSpPr/>
          <p:nvPr/>
        </p:nvSpPr>
        <p:spPr>
          <a:xfrm>
            <a:off x="4603750" y="2617391"/>
            <a:ext cx="307403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만성질환 악화 조기 예측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03750" y="2950071"/>
            <a:ext cx="307403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EMR 진단·검사 시계열 + 유전체 위험도 + 웨어러블·생활 데이터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38434" y="3511252"/>
            <a:ext cx="337502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진료실 밖 건강 변화 포착, 고위험군 선제 관리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03750" y="4072434"/>
            <a:ext cx="2984500" cy="609600"/>
          </a:xfrm>
          <a:prstGeom prst="roundRect">
            <a:avLst>
              <a:gd name="adj" fmla="val 8333"/>
            </a:avLst>
          </a:prstGeom>
          <a:solidFill>
            <a:srgbClr val="E4EEEF"/>
          </a:solidFill>
          <a:ln/>
        </p:spPr>
        <p:txBody>
          <a:bodyPr wrap="square" lIns="86721" tIns="61321" rIns="3282" bIns="35921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美 All of Us: EHR + 유전체 + Fitbit 연계 제공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78775" y="2411016"/>
            <a:ext cx="3397250" cy="2477393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5" name="Text 13"/>
          <p:cNvSpPr/>
          <p:nvPr/>
        </p:nvSpPr>
        <p:spPr>
          <a:xfrm>
            <a:off x="8185150" y="2617391"/>
            <a:ext cx="307403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희귀질환</a:t>
            </a: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진단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5150" y="2950071"/>
            <a:ext cx="3074035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전장유전체(WGS) + 임상 표현형·가족력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85151" y="3275112"/>
            <a:ext cx="298450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원인 변이 규명, </a:t>
            </a:r>
            <a:r>
              <a:rPr lang="en-US" sz="1200" dirty="0" err="1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진단단축</a:t>
            </a:r>
            <a:r>
              <a:rPr lang="en-US" sz="12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치료 표적 발굴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85150" y="3836292"/>
            <a:ext cx="2984500" cy="845741"/>
          </a:xfrm>
          <a:prstGeom prst="roundRect">
            <a:avLst>
              <a:gd name="adj" fmla="val 8333"/>
            </a:avLst>
          </a:prstGeom>
          <a:solidFill>
            <a:srgbClr val="F6E7DE"/>
          </a:solidFill>
          <a:ln/>
        </p:spPr>
        <p:txBody>
          <a:bodyPr wrap="square" lIns="86721" tIns="61321" rIns="3282" bIns="35921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 CODA: 희귀질환 WGS + 임상정보 보유 — </a:t>
            </a:r>
            <a:r>
              <a:rPr lang="en-US" sz="1200" dirty="0" err="1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그러나</a:t>
            </a:r>
            <a:r>
              <a:rPr lang="en-US" sz="1200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</a:t>
            </a:r>
            <a:r>
              <a:rPr lang="en-US" altLang="ko-KR" sz="1200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</a:t>
            </a:r>
            <a:r>
              <a:rPr lang="ko-KR" altLang="en-US" sz="1200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활용에 오랜 시간소요</a:t>
            </a:r>
            <a:r>
              <a:rPr lang="en-US" altLang="ko-KR" sz="1200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200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희귀질환 임상정보 활용 못함</a:t>
            </a:r>
            <a:r>
              <a:rPr lang="en-US" altLang="ko-KR" sz="1200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Ⅰ. 결합의 가치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한쪽 데이터만으로는 풀리지 않는 질문들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94780"/>
            <a:ext cx="10566400" cy="31243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5" name="Shape 3"/>
          <p:cNvSpPr/>
          <p:nvPr/>
        </p:nvSpPr>
        <p:spPr>
          <a:xfrm>
            <a:off x="11376025" y="1894780"/>
            <a:ext cx="0" cy="3124300"/>
          </a:xfrm>
          <a:prstGeom prst="line">
            <a:avLst/>
          </a:prstGeom>
          <a:noFill/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7" name="Shape 5"/>
          <p:cNvSpPr/>
          <p:nvPr/>
        </p:nvSpPr>
        <p:spPr>
          <a:xfrm>
            <a:off x="812800" y="190113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8" name="Shape 6"/>
          <p:cNvSpPr/>
          <p:nvPr/>
        </p:nvSpPr>
        <p:spPr>
          <a:xfrm>
            <a:off x="819150" y="1894780"/>
            <a:ext cx="0" cy="312430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617624"/>
              </p:ext>
            </p:extLst>
          </p:nvPr>
        </p:nvGraphicFramePr>
        <p:xfrm>
          <a:off x="950912" y="1976684"/>
          <a:ext cx="10293352" cy="2960491"/>
        </p:xfrm>
        <a:graphic>
          <a:graphicData uri="http://schemas.openxmlformats.org/drawingml/2006/table">
            <a:tbl>
              <a:tblPr/>
              <a:tblGrid>
                <a:gridCol w="3567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3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5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9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47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2E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연구 질문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2E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보건의료데이터만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4F2E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인체유래물데이터만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5CC8C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결합하면</a:t>
                      </a:r>
                      <a:endParaRPr lang="en-US" sz="16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671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 변이를 가진 환자에게 어떤 약이 듣는가?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65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처방·반응은 있으나 원인 변이를 모름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65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변이는 있으나 치료 결과를 모름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변이별 약물반응 예측 모델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7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왜 일부 환자에게만 독성이 나타나는가?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65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이상반응 발생만 확인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65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기전 후보만 제시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약물유전체 기반 고위험군 예측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7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어떤 표적이 임상에서 성공할 것인가?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65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질환 경과만 확인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65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유전적 연관만 확인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인과 근거 기반 표적 우선순위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705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 모델이 한국인 환자에게도 맞는가?</a:t>
                      </a:r>
                      <a:endParaRPr lang="en-US" sz="1400" b="1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65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한국인 진료 패턴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5A65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한국인 유전 배경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편향을 보정한 한국형 모델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38327" y="5336580"/>
            <a:ext cx="0" cy="317500"/>
          </a:xfrm>
          <a:prstGeom prst="line">
            <a:avLst/>
          </a:prstGeom>
          <a:noFill/>
          <a:ln w="38100">
            <a:solidFill>
              <a:srgbClr val="0B6E77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1" name="Text 8"/>
          <p:cNvSpPr/>
          <p:nvPr/>
        </p:nvSpPr>
        <p:spPr>
          <a:xfrm>
            <a:off x="1035177" y="5361980"/>
            <a:ext cx="106610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AI의 학습 정답(label)은 진료·경과 데이터에, 기전 설명력은 오믹스 </a:t>
            </a:r>
            <a:r>
              <a:rPr lang="en-US" sz="14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데이터에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있다</a:t>
            </a:r>
            <a:r>
              <a:rPr lang="en-US" altLang="ko-KR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Ⅰ. 국내 현황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293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데이터는 세계 수준으로 쌓였지만,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연구 현장에는 닿지 않는다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3219946"/>
            <a:ext cx="3556000" cy="0"/>
          </a:xfrm>
          <a:prstGeom prst="line">
            <a:avLst/>
          </a:prstGeom>
          <a:noFill/>
          <a:ln w="635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5" name="Text 3"/>
          <p:cNvSpPr/>
          <p:nvPr/>
        </p:nvSpPr>
        <p:spPr>
          <a:xfrm>
            <a:off x="812800" y="2407841"/>
            <a:ext cx="36626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37,854 TB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12800" y="2871391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국가바이오데이터스테이션(K-BDS)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12800" y="4187627"/>
            <a:ext cx="3556000" cy="0"/>
          </a:xfrm>
          <a:prstGeom prst="line">
            <a:avLst/>
          </a:prstGeom>
          <a:noFill/>
          <a:ln w="635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8" name="Text 6"/>
          <p:cNvSpPr/>
          <p:nvPr/>
        </p:nvSpPr>
        <p:spPr>
          <a:xfrm>
            <a:off x="812800" y="3375521"/>
            <a:ext cx="36626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2,706 TB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12800" y="3839071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질병관리청 보유 바이오 데이터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2800" y="4343202"/>
            <a:ext cx="3662680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약 4.6조 건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12800" y="4806752"/>
            <a:ext cx="366268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건강보험 빅데이터 플랫폼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3600" y="2407841"/>
            <a:ext cx="690676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활용을 가로막는 구조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73600" y="2727821"/>
            <a:ext cx="6705600" cy="673001"/>
          </a:xfrm>
          <a:prstGeom prst="roundRect">
            <a:avLst>
              <a:gd name="adj" fmla="val 9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4" name="Text 12"/>
          <p:cNvSpPr/>
          <p:nvPr/>
        </p:nvSpPr>
        <p:spPr>
          <a:xfrm>
            <a:off x="4851400" y="2816721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분산·파편화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51400" y="3090962"/>
            <a:ext cx="654050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기관마다 다른 메타데이터·신청절차, 기관별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개별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문의</a:t>
            </a:r>
            <a:r>
              <a:rPr lang="en-US" altLang="ko-KR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결합경로 부재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73600" y="3477022"/>
            <a:ext cx="6705600" cy="673001"/>
          </a:xfrm>
          <a:prstGeom prst="roundRect">
            <a:avLst>
              <a:gd name="adj" fmla="val 9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7" name="Text 15"/>
          <p:cNvSpPr/>
          <p:nvPr/>
        </p:nvSpPr>
        <p:spPr>
          <a:xfrm>
            <a:off x="4851400" y="3565922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</a:t>
            </a: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중첩</a:t>
            </a:r>
            <a:r>
              <a:rPr lang="ko-KR" alt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및 탐색적 연구 낮은 친화도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51400" y="3840163"/>
            <a:ext cx="654050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IRB(면제 확인 포함) + DRB + 기관 형식·내용 심사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73600" y="4226223"/>
            <a:ext cx="6705600" cy="673001"/>
          </a:xfrm>
          <a:prstGeom prst="roundRect">
            <a:avLst>
              <a:gd name="adj" fmla="val 9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0" name="Text 18"/>
          <p:cNvSpPr/>
          <p:nvPr/>
        </p:nvSpPr>
        <p:spPr>
          <a:xfrm>
            <a:off x="4851400" y="4315123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가명처리 기준 모호 · 폐쇄환경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51400" y="4589363"/>
            <a:ext cx="654050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회피로 raw data는 인터넷이 차단된 분석실에서만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73600" y="4975423"/>
            <a:ext cx="6705600" cy="673001"/>
          </a:xfrm>
          <a:prstGeom prst="roundRect">
            <a:avLst>
              <a:gd name="adj" fmla="val 943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3" name="Text 21"/>
          <p:cNvSpPr/>
          <p:nvPr/>
        </p:nvSpPr>
        <p:spPr>
          <a:xfrm>
            <a:off x="4851400" y="5064323"/>
            <a:ext cx="65405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 대응력 부재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51400" y="5338564"/>
            <a:ext cx="654050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다양한 가설 생성과 분석연구 불가능</a:t>
            </a:r>
            <a:r>
              <a:rPr lang="en-US" altLang="ko-KR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가명데이터 확장성 이슈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관계부처 합동, 바이오 혁신을 위한 우선 추진과제(2026. 9. 21.)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Ⅱ. 연구 현장의 병목 — 신청에서 활용까지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미국 1주, 영국 2개월, 한국 8개월 이상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188694"/>
            <a:ext cx="24853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NIH dbGaP (미국)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468094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TCGA FASTQ·BAM·VCF</a:t>
            </a:r>
            <a:r>
              <a:rPr lang="ko-KR" alt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29000" y="2188694"/>
            <a:ext cx="228600" cy="279400"/>
          </a:xfrm>
          <a:prstGeom prst="roundRect">
            <a:avLst>
              <a:gd name="adj" fmla="val 11111"/>
            </a:avLst>
          </a:pr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7" name="Text 5"/>
          <p:cNvSpPr/>
          <p:nvPr/>
        </p:nvSpPr>
        <p:spPr>
          <a:xfrm>
            <a:off x="3784600" y="2195044"/>
            <a:ext cx="6073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1주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9000" y="2531594"/>
            <a:ext cx="8188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요약서 1문단 제출 → 기관장 승인(~1일) → NIH 승인(~3일) → </a:t>
            </a:r>
            <a:r>
              <a:rPr lang="en-US" sz="12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다운로드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· 연 1회 갱신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2935415"/>
            <a:ext cx="24853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UK Biobank (영국)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321481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ko-KR" alt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</a:t>
            </a:r>
            <a:r>
              <a:rPr lang="en-US" altLang="ko-KR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단백체</a:t>
            </a:r>
            <a:r>
              <a:rPr 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(proteomics)</a:t>
            </a:r>
            <a:r>
              <a:rPr lang="ko-KR" alt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</a:t>
            </a:r>
            <a:r>
              <a:rPr lang="ko-KR" alt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임상정보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429000" y="2935415"/>
            <a:ext cx="1587500" cy="279400"/>
          </a:xfrm>
          <a:prstGeom prst="roundRect">
            <a:avLst>
              <a:gd name="adj" fmla="val 9091"/>
            </a:avLst>
          </a:pr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2" name="Text 10"/>
          <p:cNvSpPr/>
          <p:nvPr/>
        </p:nvSpPr>
        <p:spPr>
          <a:xfrm>
            <a:off x="5143500" y="2941765"/>
            <a:ext cx="81772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2개월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29000" y="3278315"/>
            <a:ext cx="8188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승인(~10일) → 신청 심사(~10일) → 이용료·MTA(~10일) → </a:t>
            </a:r>
            <a:r>
              <a:rPr lang="en-US" sz="12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분석환경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3682135"/>
            <a:ext cx="248539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ko-KR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 </a:t>
            </a:r>
            <a:r>
              <a:rPr lang="ko-KR" alt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데이터전문기관</a:t>
            </a: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(한국)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3961535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희귀질환 WGS·VCF + 임상정보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429000" y="3682135"/>
            <a:ext cx="6350000" cy="279400"/>
          </a:xfrm>
          <a:prstGeom prst="roundRect">
            <a:avLst>
              <a:gd name="adj" fmla="val 9091"/>
            </a:avLst>
          </a:prstGeom>
          <a:solidFill>
            <a:srgbClr val="C2521B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7" name="Text 15"/>
          <p:cNvSpPr/>
          <p:nvPr/>
        </p:nvSpPr>
        <p:spPr>
          <a:xfrm>
            <a:off x="9906000" y="3688485"/>
            <a:ext cx="6903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altLang="ko-KR" sz="1500" b="1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r>
              <a:rPr lang="en-US" sz="1500" b="1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개월+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29000" y="4025035"/>
            <a:ext cx="81887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IRB 면제(~1개월) → 형식심사 5차(~2개월) → 내용심사·공문 → 협약서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우편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(8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r>
              <a:rPr lang="en-US" altLang="ko-KR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환경설정 </a:t>
            </a:r>
            <a:r>
              <a:rPr lang="en-US" altLang="ko-Kore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b="1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이용</a:t>
            </a:r>
            <a:r>
              <a:rPr lang="ko-KR" altLang="en-US" sz="12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까지</a:t>
            </a:r>
            <a:r>
              <a:rPr lang="en-US" altLang="ko-KR" sz="12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(18</a:t>
            </a:r>
            <a:r>
              <a:rPr lang="ko-KR" altLang="en-US" sz="12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</a:t>
            </a:r>
            <a:r>
              <a:rPr lang="en-US" altLang="ko-KR" sz="12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4665860"/>
            <a:ext cx="10566400" cy="988219"/>
          </a:xfrm>
          <a:prstGeom prst="roundRect">
            <a:avLst>
              <a:gd name="adj" fmla="val 13333"/>
            </a:avLst>
          </a:prstGeom>
          <a:solidFill>
            <a:srgbClr val="F6E7DE"/>
          </a:solidFill>
          <a:ln/>
        </p:spPr>
        <p:txBody>
          <a:bodyPr wrap="square" lIns="159201" tIns="95701" rIns="0" bIns="70301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data(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 데이터</a:t>
            </a:r>
            <a:r>
              <a:rPr lang="en-US" altLang="ko-KR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접근 — 미국: </a:t>
            </a:r>
            <a:r>
              <a:rPr lang="en-US" sz="14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다운로드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영국: 인증 </a:t>
            </a:r>
            <a:r>
              <a:rPr lang="en-US" sz="14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/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</a:t>
            </a: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: 인터넷이 차단된 폐쇄환경에서만 </a:t>
            </a:r>
            <a:r>
              <a:rPr lang="en-US" sz="14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제한적</a:t>
            </a: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4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허용</a:t>
            </a:r>
            <a:endParaRPr lang="en-US" sz="1400" b="1" dirty="0">
              <a:solidFill>
                <a:srgbClr val="14233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14233B"/>
                </a:solidFill>
                <a:latin typeface="Noto Sans KR" pitchFamily="34" charset="0"/>
              </a:rPr>
              <a:t>가명정보 </a:t>
            </a:r>
            <a:r>
              <a:rPr lang="en-US" altLang="ko-KR" sz="1400" b="1" dirty="0">
                <a:solidFill>
                  <a:srgbClr val="14233B"/>
                </a:solidFill>
                <a:latin typeface="Noto Sans KR" pitchFamily="34" charset="0"/>
              </a:rPr>
              <a:t>IRB</a:t>
            </a:r>
            <a:r>
              <a:rPr lang="ko-KR" altLang="en-US" sz="1400" b="1" dirty="0">
                <a:solidFill>
                  <a:srgbClr val="14233B"/>
                </a:solidFill>
                <a:latin typeface="Noto Sans KR" pitchFamily="34" charset="0"/>
              </a:rPr>
              <a:t> 면제신청 </a:t>
            </a:r>
            <a:r>
              <a:rPr lang="en-US" altLang="ko-Kore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—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기관 </a:t>
            </a:r>
            <a:r>
              <a:rPr lang="en-US" altLang="ko-KR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IRB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마다 가명정보 면제심의 차이</a:t>
            </a:r>
            <a:r>
              <a:rPr lang="en-US" altLang="ko-KR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면제심의가 </a:t>
            </a:r>
            <a:r>
              <a:rPr lang="en-US" altLang="ko-KR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IRB</a:t>
            </a:r>
            <a:r>
              <a:rPr lang="ko-KR" alt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심의와 유사한 수준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진행</a:t>
            </a:r>
            <a:r>
              <a:rPr lang="en-US" altLang="ko-KR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(1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개월 이상 소요</a:t>
            </a:r>
            <a:r>
              <a:rPr lang="en-US" altLang="ko-KR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</a:t>
            </a:r>
            <a:endParaRPr lang="en-US" altLang="ko-Kore-US" sz="1400" dirty="0"/>
          </a:p>
          <a:p>
            <a:pPr marL="0" indent="0" algn="l">
              <a:lnSpc>
                <a:spcPts val="1950"/>
              </a:lnSpc>
              <a:buNone/>
            </a:pPr>
            <a:endParaRPr lang="en-US" sz="1400" b="1" dirty="0">
              <a:solidFill>
                <a:srgbClr val="14233B"/>
              </a:solidFill>
              <a:latin typeface="Noto Sans KR" pitchFamily="34" charset="0"/>
              <a:ea typeface="Noto Sans KR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2800" y="6289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K-문샷 추진단 현장 사례 조사 · 막대 길이는 소요기간에 비례 · CODA 기준일 2025. 10. 21.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Ⅱ. 탐색적 연구의 현실 — 가상 시나리오, 국내 실제 소요기간 적용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탐색적 연구는 반복이다.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반복마다 심의를 받으면 수년이 걸린다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533850"/>
            <a:ext cx="536321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면역항암제 반응 예측 연구의 데이터 신청 흐름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841130"/>
            <a:ext cx="5207000" cy="37336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 b="1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</a:t>
            </a:r>
            <a:r>
              <a:rPr lang="en-US" sz="16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폐암 RNA-seq + 면역항암 반응 → 기본 예측모델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3290690"/>
            <a:ext cx="5207000" cy="37336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 b="1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r>
              <a:rPr lang="en-US" sz="16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반응 차이 원인 탐색 → 단일세포·공간전사체 추가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740250"/>
            <a:ext cx="5207000" cy="37336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 b="1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3차</a:t>
            </a:r>
            <a:r>
              <a:rPr lang="en-US" sz="16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생식세포 변이 영향 확인 → WGS 추가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4189811"/>
            <a:ext cx="5207000" cy="37336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 b="1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4차</a:t>
            </a:r>
            <a:r>
              <a:rPr lang="en-US" sz="16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면역 이상반응 연결 → EMR 처방·검사 추가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4639371"/>
            <a:ext cx="5207000" cy="373360"/>
          </a:xfrm>
          <a:prstGeom prst="roundRect">
            <a:avLst>
              <a:gd name="adj" fmla="val 13606"/>
            </a:avLst>
          </a:prstGeom>
          <a:solidFill>
            <a:srgbClr val="FFFFFF"/>
          </a:solidFill>
          <a:ln/>
        </p:spPr>
        <p:txBody>
          <a:bodyPr wrap="square" lIns="112121" tIns="61321" rIns="0" bIns="35921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600" b="1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5차</a:t>
            </a:r>
            <a:r>
              <a:rPr lang="en-US" sz="1600" dirty="0">
                <a:solidFill>
                  <a:srgbClr val="1C2A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타 암종 일반화 검증 → 위암·대장암 코호트 추가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5177023"/>
            <a:ext cx="5363210" cy="246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00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데이터가 바뀔 때마다 IRB 면제·DRB·기관 심사를 새로 신청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375400" y="2533850"/>
            <a:ext cx="515391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844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국내: 5회 × 약 6개월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75400" y="2891930"/>
            <a:ext cx="914400" cy="330200"/>
          </a:xfrm>
          <a:prstGeom prst="rect">
            <a:avLst/>
          </a:prstGeom>
          <a:solidFill>
            <a:srgbClr val="C2521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80"/>
              </a:lnSpc>
              <a:buNone/>
            </a:pPr>
            <a:r>
              <a:rPr lang="en-US" sz="1200" b="1" dirty="0">
                <a:solidFill>
                  <a:srgbClr val="FF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2891930"/>
            <a:ext cx="914400" cy="330200"/>
          </a:xfrm>
          <a:prstGeom prst="rect">
            <a:avLst/>
          </a:prstGeom>
          <a:solidFill>
            <a:srgbClr val="C2521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80"/>
              </a:lnSpc>
              <a:buNone/>
            </a:pPr>
            <a:r>
              <a:rPr lang="en-US" sz="1200" b="1" dirty="0">
                <a:solidFill>
                  <a:srgbClr val="FF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55000" y="2891930"/>
            <a:ext cx="914400" cy="330200"/>
          </a:xfrm>
          <a:prstGeom prst="rect">
            <a:avLst/>
          </a:prstGeom>
          <a:solidFill>
            <a:srgbClr val="C2521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80"/>
              </a:lnSpc>
              <a:buNone/>
            </a:pPr>
            <a:r>
              <a:rPr lang="en-US" sz="1200" b="1" dirty="0">
                <a:solidFill>
                  <a:srgbClr val="FF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94800" y="2891930"/>
            <a:ext cx="914400" cy="330200"/>
          </a:xfrm>
          <a:prstGeom prst="rect">
            <a:avLst/>
          </a:prstGeom>
          <a:solidFill>
            <a:srgbClr val="C2521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80"/>
              </a:lnSpc>
              <a:buNone/>
            </a:pPr>
            <a:r>
              <a:rPr lang="en-US" sz="1200" b="1" dirty="0">
                <a:solidFill>
                  <a:srgbClr val="FF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4차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134600" y="2891930"/>
            <a:ext cx="914400" cy="330200"/>
          </a:xfrm>
          <a:prstGeom prst="rect">
            <a:avLst/>
          </a:prstGeom>
          <a:solidFill>
            <a:srgbClr val="C2521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580"/>
              </a:lnSpc>
              <a:buNone/>
            </a:pPr>
            <a:r>
              <a:rPr lang="en-US" sz="1200" b="1" dirty="0">
                <a:solidFill>
                  <a:srgbClr val="FFF8F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5차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75400" y="3349130"/>
            <a:ext cx="5153914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A8441A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≈ 30개월 (2.5년)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375400" y="3914280"/>
            <a:ext cx="515391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수준: 5회 × 2주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75400" y="4272361"/>
            <a:ext cx="76200" cy="330200"/>
          </a:xfrm>
          <a:prstGeom prst="rect">
            <a:avLst/>
          </a:pr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0" name="Shape 18"/>
          <p:cNvSpPr/>
          <p:nvPr/>
        </p:nvSpPr>
        <p:spPr>
          <a:xfrm>
            <a:off x="6477000" y="4272361"/>
            <a:ext cx="76200" cy="330200"/>
          </a:xfrm>
          <a:prstGeom prst="rect">
            <a:avLst/>
          </a:pr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1" name="Shape 19"/>
          <p:cNvSpPr/>
          <p:nvPr/>
        </p:nvSpPr>
        <p:spPr>
          <a:xfrm>
            <a:off x="6578600" y="4272361"/>
            <a:ext cx="76200" cy="330200"/>
          </a:xfrm>
          <a:prstGeom prst="rect">
            <a:avLst/>
          </a:pr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2" name="Shape 20"/>
          <p:cNvSpPr/>
          <p:nvPr/>
        </p:nvSpPr>
        <p:spPr>
          <a:xfrm>
            <a:off x="6680200" y="4272361"/>
            <a:ext cx="76200" cy="330200"/>
          </a:xfrm>
          <a:prstGeom prst="rect">
            <a:avLst/>
          </a:pr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3" name="Shape 21"/>
          <p:cNvSpPr/>
          <p:nvPr/>
        </p:nvSpPr>
        <p:spPr>
          <a:xfrm>
            <a:off x="6781800" y="4272361"/>
            <a:ext cx="76200" cy="330200"/>
          </a:xfrm>
          <a:prstGeom prst="rect">
            <a:avLst/>
          </a:pr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4" name="Text 22"/>
          <p:cNvSpPr/>
          <p:nvPr/>
        </p:nvSpPr>
        <p:spPr>
          <a:xfrm>
            <a:off x="6375400" y="4729561"/>
            <a:ext cx="5153914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6E7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≈ 10주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812800" y="6289080"/>
            <a:ext cx="98107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회당 6개월: CODA 사례를 보수적으로 적용 · 글로벌: 사전인증 연구자의 추가 신청 2주 가정 · 막대 길이는 기간에 비례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C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Ⅱ. 제도적 원인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시간을 잡아먹는 네 가지 병목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94780"/>
            <a:ext cx="5207000" cy="1139130"/>
          </a:xfrm>
          <a:prstGeom prst="roundRect">
            <a:avLst>
              <a:gd name="adj" fmla="val 55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5" name="Shape 3"/>
          <p:cNvSpPr/>
          <p:nvPr/>
        </p:nvSpPr>
        <p:spPr>
          <a:xfrm>
            <a:off x="812800" y="1894780"/>
            <a:ext cx="5207000" cy="1139130"/>
          </a:xfrm>
          <a:custGeom>
            <a:avLst/>
            <a:gdLst/>
            <a:ahLst/>
            <a:cxnLst/>
            <a:rect l="l" t="t" r="r" b="b"/>
            <a:pathLst>
              <a:path w="5207000" h="1139130">
                <a:moveTo>
                  <a:pt x="63500" y="1139130"/>
                </a:moveTo>
                <a:lnTo>
                  <a:pt x="63500" y="113913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1075630"/>
                </a:lnTo>
                <a:arcTo wR="25400" hR="63500" stAng="10800000" swAng="-5400000"/>
                <a:close/>
              </a:path>
            </a:pathLst>
          </a:custGeom>
          <a:solidFill>
            <a:srgbClr val="C2521B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6" name="Text 4"/>
          <p:cNvSpPr/>
          <p:nvPr/>
        </p:nvSpPr>
        <p:spPr>
          <a:xfrm>
            <a:off x="1054100" y="2072580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'면제'가 면제가 아닌 IRB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4100" y="2379861"/>
            <a:ext cx="490537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가명정보도 면제 확인을 위해 계획서 제출·위원회 검토가 필요하다. 수주~수개월이 걸려 가명정보 특례의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실효성이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사라</a:t>
            </a:r>
            <a:r>
              <a:rPr lang="ko-KR" alt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짐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894780"/>
            <a:ext cx="5207000" cy="1139130"/>
          </a:xfrm>
          <a:prstGeom prst="roundRect">
            <a:avLst>
              <a:gd name="adj" fmla="val 557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9" name="Shape 7"/>
          <p:cNvSpPr/>
          <p:nvPr/>
        </p:nvSpPr>
        <p:spPr>
          <a:xfrm>
            <a:off x="6172200" y="1894780"/>
            <a:ext cx="5207000" cy="1139130"/>
          </a:xfrm>
          <a:custGeom>
            <a:avLst/>
            <a:gdLst/>
            <a:ahLst/>
            <a:cxnLst/>
            <a:rect l="l" t="t" r="r" b="b"/>
            <a:pathLst>
              <a:path w="5207000" h="1139130">
                <a:moveTo>
                  <a:pt x="63500" y="1139130"/>
                </a:moveTo>
                <a:lnTo>
                  <a:pt x="63500" y="113913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1075630"/>
                </a:lnTo>
                <a:arcTo wR="25400" hR="63500" stAng="10800000" swAng="-5400000"/>
                <a:close/>
              </a:path>
            </a:pathLst>
          </a:custGeom>
          <a:solidFill>
            <a:srgbClr val="C2521B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0" name="Text 8"/>
          <p:cNvSpPr/>
          <p:nvPr/>
        </p:nvSpPr>
        <p:spPr>
          <a:xfrm>
            <a:off x="6413500" y="2072580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IRB 위에 또 하나의 문턱, DRB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13500" y="2379861"/>
            <a:ext cx="490537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보건의료데이터 활용 가이드라인 재개정 논의에서 IRB와 별도 DRB 심의가 유지·강화되면 같은 데이터를 이중으로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심의하게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됨</a:t>
            </a:r>
            <a:r>
              <a:rPr lang="en-US" altLang="ko-KR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800" y="3186311"/>
            <a:ext cx="5207000" cy="1377255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3" name="Shape 11"/>
          <p:cNvSpPr/>
          <p:nvPr/>
        </p:nvSpPr>
        <p:spPr>
          <a:xfrm>
            <a:off x="812800" y="3186311"/>
            <a:ext cx="5207000" cy="1377255"/>
          </a:xfrm>
          <a:custGeom>
            <a:avLst/>
            <a:gdLst/>
            <a:ahLst/>
            <a:cxnLst/>
            <a:rect l="l" t="t" r="r" b="b"/>
            <a:pathLst>
              <a:path w="5207000" h="1377255">
                <a:moveTo>
                  <a:pt x="63500" y="1377255"/>
                </a:moveTo>
                <a:lnTo>
                  <a:pt x="63500" y="1377255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1313755"/>
                </a:lnTo>
                <a:arcTo wR="25400" hR="63500" stAng="10800000" swAng="-5400000"/>
                <a:close/>
              </a:path>
            </a:pathLst>
          </a:custGeom>
          <a:solidFill>
            <a:srgbClr val="C2521B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4" name="Text 12"/>
          <p:cNvSpPr/>
          <p:nvPr/>
        </p:nvSpPr>
        <p:spPr>
          <a:xfrm>
            <a:off x="1054100" y="3364111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모호한 가명처리 기준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54100" y="3671391"/>
            <a:ext cx="4905375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Safe Harbor(18개 식별자 제거) 같은 명시적 기준이 없어 처리기관이 판단을 피한다. </a:t>
            </a:r>
            <a:r>
              <a:rPr lang="ko-KR" alt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희귀유전질환과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유전체는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'그 자체로 식별 가능'하다는 오인으로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사실상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배제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72200" y="3186311"/>
            <a:ext cx="5207000" cy="1377255"/>
          </a:xfrm>
          <a:prstGeom prst="roundRect">
            <a:avLst>
              <a:gd name="adj" fmla="val 4611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7" name="Shape 15"/>
          <p:cNvSpPr/>
          <p:nvPr/>
        </p:nvSpPr>
        <p:spPr>
          <a:xfrm>
            <a:off x="6172200" y="3186311"/>
            <a:ext cx="5207000" cy="1377255"/>
          </a:xfrm>
          <a:custGeom>
            <a:avLst/>
            <a:gdLst/>
            <a:ahLst/>
            <a:cxnLst/>
            <a:rect l="l" t="t" r="r" b="b"/>
            <a:pathLst>
              <a:path w="5207000" h="1377255">
                <a:moveTo>
                  <a:pt x="63500" y="1377255"/>
                </a:moveTo>
                <a:lnTo>
                  <a:pt x="63500" y="1377255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1313755"/>
                </a:lnTo>
                <a:arcTo wR="25400" hR="63500" stAng="10800000" swAng="-5400000"/>
                <a:close/>
              </a:path>
            </a:pathLst>
          </a:custGeom>
          <a:solidFill>
            <a:srgbClr val="C2521B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8" name="Text 16"/>
          <p:cNvSpPr/>
          <p:nvPr/>
        </p:nvSpPr>
        <p:spPr>
          <a:xfrm>
            <a:off x="6413500" y="3364111"/>
            <a:ext cx="4905375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</a:t>
            </a:r>
            <a:r>
              <a:rPr lang="en-US" sz="16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탐색</a:t>
            </a:r>
            <a:r>
              <a:rPr lang="ko-KR" alt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연구를</a:t>
            </a: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막는 신청 단위·폐쇄환경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13500" y="3671391"/>
            <a:ext cx="490537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과제·변수 단위로 매번 새로 신청해야 한다. Raw data는 인터넷 차단 분석실에서만 허용되어 AI 도구·클라우드 GPU를 쓸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없다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5F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36514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BFE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Ⅲ. 개선 과제 — 목표와 두 단계</a:t>
            </a:r>
            <a:endParaRPr lang="en-US" sz="13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096195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F4F2EC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신청 → 활용, 2주 이내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084215"/>
            <a:ext cx="1088339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 접근 주기를 글로벌 수준으로 — 8개월을 2주로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3636665"/>
            <a:ext cx="5168900" cy="1584821"/>
          </a:xfrm>
          <a:prstGeom prst="roundRect">
            <a:avLst>
              <a:gd name="adj" fmla="val 5609"/>
            </a:avLst>
          </a:prstGeom>
          <a:solidFill>
            <a:srgbClr val="F4F2EC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6" name="Text 4"/>
          <p:cNvSpPr/>
          <p:nvPr/>
        </p:nvSpPr>
        <p:spPr>
          <a:xfrm>
            <a:off x="1041400" y="3839865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현재 이슈 해결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41400" y="4129385"/>
            <a:ext cx="485305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41400" y="4464645"/>
            <a:ext cx="485305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 err="1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통합시스템</a:t>
            </a:r>
            <a:r>
              <a:rPr lang="en-US" altLang="ko-KR" sz="1300" dirty="0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300" dirty="0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심의 일원화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 err="1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가명바이오데이터</a:t>
            </a:r>
            <a:r>
              <a:rPr lang="en-US" sz="1300" dirty="0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</a:t>
            </a:r>
            <a:r>
              <a:rPr lang="en-US" altLang="ko-KR" sz="1300" dirty="0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300" dirty="0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 </a:t>
            </a:r>
            <a:r>
              <a:rPr lang="en-US" sz="1300" dirty="0" err="1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보건의료정보</a:t>
            </a:r>
            <a:r>
              <a:rPr lang="en-US" sz="1300" dirty="0">
                <a:solidFill>
                  <a:srgbClr val="334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1250" y="3643015"/>
            <a:ext cx="5181600" cy="1572121"/>
          </a:xfrm>
          <a:prstGeom prst="roundRect">
            <a:avLst>
              <a:gd name="adj" fmla="val 5251"/>
            </a:avLst>
          </a:prstGeom>
          <a:solidFill>
            <a:srgbClr val="0A4C53"/>
          </a:solidFill>
          <a:ln w="12700">
            <a:solidFill>
              <a:srgbClr val="5CC8C9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0" name="Text 8"/>
          <p:cNvSpPr/>
          <p:nvPr/>
        </p:nvSpPr>
        <p:spPr>
          <a:xfrm>
            <a:off x="6426200" y="3852565"/>
            <a:ext cx="48530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FE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법과 함께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26200" y="4142085"/>
            <a:ext cx="485305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추가로 고려할 과제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26200" y="4477345"/>
            <a:ext cx="4853051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 3-트랙</a:t>
            </a:r>
            <a:r>
              <a:rPr lang="en-US" altLang="ko-KR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처리기한</a:t>
            </a:r>
            <a:r>
              <a:rPr lang="en-US" altLang="ko-KR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한국형 Safe Harbor</a:t>
            </a:r>
            <a:endParaRPr lang="en-US" sz="13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300" dirty="0" err="1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사전인증</a:t>
            </a:r>
            <a:r>
              <a:rPr lang="en-US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화이트리스트</a:t>
            </a:r>
            <a:r>
              <a:rPr lang="en-US" altLang="ko-KR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결합키</a:t>
            </a:r>
            <a:r>
              <a:rPr lang="en-US" altLang="ko-KR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</a:t>
            </a:r>
            <a:r>
              <a:rPr lang="ko-KR" altLang="en-US" sz="1300" dirty="0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300" dirty="0" err="1">
                <a:solidFill>
                  <a:srgbClr val="D6EC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재사용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FE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en-US" altLang="ko-KR" sz="1200" dirty="0">
                <a:solidFill>
                  <a:srgbClr val="BFE6E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Ⅲ. 1단계 — 현재 이슈 해결을 위한 바이오데이터법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현장의 병목마다, 법안에 해법이 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94780"/>
            <a:ext cx="10566400" cy="318884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5" name="Shape 3"/>
          <p:cNvSpPr/>
          <p:nvPr/>
        </p:nvSpPr>
        <p:spPr>
          <a:xfrm>
            <a:off x="11376025" y="1894780"/>
            <a:ext cx="0" cy="3188849"/>
          </a:xfrm>
          <a:prstGeom prst="line">
            <a:avLst/>
          </a:prstGeom>
          <a:noFill/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7" name="Shape 5"/>
          <p:cNvSpPr/>
          <p:nvPr/>
        </p:nvSpPr>
        <p:spPr>
          <a:xfrm>
            <a:off x="812800" y="190113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8" name="Shape 6"/>
          <p:cNvSpPr/>
          <p:nvPr/>
        </p:nvSpPr>
        <p:spPr>
          <a:xfrm>
            <a:off x="819150" y="1894780"/>
            <a:ext cx="0" cy="3188849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431612"/>
              </p:ext>
            </p:extLst>
          </p:nvPr>
        </p:nvGraphicFramePr>
        <p:xfrm>
          <a:off x="963613" y="2009087"/>
          <a:ext cx="10267950" cy="2974966"/>
        </p:xfrm>
        <a:graphic>
          <a:graphicData uri="http://schemas.openxmlformats.org/drawingml/2006/table">
            <a:tbl>
              <a:tblPr/>
              <a:tblGrid>
                <a:gridCol w="41309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2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4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2523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2E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현장 이슈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CC8C9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바이오데이터법의 해법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4F2EC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기대 효과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523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분산·파편화 — 기관별 개별 탐색·신청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국가바이오데이터통합시스템 구축·운영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곳에서 탐색·신청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029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심의 중첩 — </a:t>
                      </a:r>
                      <a:r>
                        <a:rPr lang="en-US" sz="1400" dirty="0" err="1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IRB·면제</a:t>
                      </a: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확인·DRB·기관</a:t>
                      </a: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심사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AI바이오 전문 </a:t>
                      </a:r>
                      <a:r>
                        <a:rPr lang="en-US" sz="1400" dirty="0" err="1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심의기구</a:t>
                      </a: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지정</a:t>
                      </a: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</a:p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IRB 심의·면제 확인 통합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한 </a:t>
                      </a:r>
                      <a:r>
                        <a:rPr lang="en-US" sz="1400" dirty="0" err="1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번의</a:t>
                      </a: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sz="1400" dirty="0" err="1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심의</a:t>
                      </a:r>
                      <a:r>
                        <a:rPr lang="en-US" altLang="ko-KR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(One-Stop</a:t>
                      </a:r>
                      <a:r>
                        <a:rPr lang="ko-KR" alt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서비스</a:t>
                      </a:r>
                      <a:r>
                        <a:rPr lang="en-US" altLang="ko-KR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)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934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가명처리 근거 모호 — 처리기관의 판단 회피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가명바이오데이터 처리 규정 신설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가명 데이터 제공의 법적 안정성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290"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결합 경로 부재 — </a:t>
                      </a:r>
                      <a:r>
                        <a:rPr lang="en-US" sz="1400" dirty="0" err="1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보건의료</a:t>
                      </a: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  <a:sym typeface="Wingdings" pitchFamily="2" charset="2"/>
                        </a:rPr>
                        <a:t></a:t>
                      </a: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R&amp;D 데이터 단절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건보공단·심평원 등 정보 연계, </a:t>
                      </a:r>
                    </a:p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 err="1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연구자</a:t>
                      </a:r>
                      <a:r>
                        <a:rPr lang="en-US" sz="1400" dirty="0">
                          <a:solidFill>
                            <a:srgbClr val="0B6E77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 차등 공개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75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2A3E"/>
                          </a:solidFill>
                          <a:latin typeface="Noto Sans KR" pitchFamily="34" charset="0"/>
                          <a:ea typeface="Noto Sans KR" pitchFamily="34" charset="-122"/>
                          <a:cs typeface="Noto Sans KR" pitchFamily="34" charset="-120"/>
                        </a:rPr>
                        <a:t>보건의료 × 인체유래물 결합 활용</a:t>
                      </a:r>
                      <a:endParaRPr lang="en-US" sz="1400" dirty="0">
                        <a:latin typeface="Noto Sans KR" charset="0"/>
                        <a:ea typeface="Noto Sans KR" charset="0"/>
                        <a:cs typeface="Noto Sans KR" charset="0"/>
                      </a:endParaRPr>
                    </a:p>
                  </a:txBody>
                  <a:tcPr marL="55563" marR="55563" marT="55563" marB="55563" anchor="ctr">
                    <a:lnL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2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38327" y="5336580"/>
            <a:ext cx="0" cy="317500"/>
          </a:xfrm>
          <a:prstGeom prst="line">
            <a:avLst/>
          </a:prstGeom>
          <a:noFill/>
          <a:ln w="38100">
            <a:solidFill>
              <a:srgbClr val="0B6E77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1" name="Text 8"/>
          <p:cNvSpPr/>
          <p:nvPr/>
        </p:nvSpPr>
        <p:spPr>
          <a:xfrm>
            <a:off x="1035177" y="5361980"/>
            <a:ext cx="1066101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바이오데이터법은 오늘 </a:t>
            </a:r>
            <a:r>
              <a:rPr lang="en-US" sz="14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보여드린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4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</a:t>
            </a:r>
            <a:r>
              <a:rPr lang="ko-KR" alt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활용 지체 </a:t>
            </a:r>
            <a:r>
              <a:rPr lang="en-US" sz="14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원인을</a:t>
            </a:r>
            <a:r>
              <a:rPr lang="en-US" sz="14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구조에서부터 푸는 법이다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12800" y="62890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법안 주요 내용: 관계부처 합동, 바이오 혁신을 위한 우선 추진과제(2026. 9. 21.) 쟁점 정리 기준 · 세부 조문은 법제연 발제 참조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C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Ⅲ. 1단계 — 바이오데이터법이 꼭 필요한 이유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왜 가이드라인이 아니라 '법률'이어야 하는가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94780"/>
            <a:ext cx="3403600" cy="2254448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5" name="Shape 3"/>
          <p:cNvSpPr/>
          <p:nvPr/>
        </p:nvSpPr>
        <p:spPr>
          <a:xfrm>
            <a:off x="812800" y="1894780"/>
            <a:ext cx="3403600" cy="2254448"/>
          </a:xfrm>
          <a:custGeom>
            <a:avLst/>
            <a:gdLst/>
            <a:ahLst/>
            <a:cxnLst/>
            <a:rect l="l" t="t" r="r" b="b"/>
            <a:pathLst>
              <a:path w="3403600" h="2254448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27400" y="0"/>
                </a:lnTo>
                <a:arcTo wR="76200" hR="76200" stAng="16200000" swAng="5400000"/>
                <a:lnTo>
                  <a:pt x="340360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6" name="Text 4"/>
          <p:cNvSpPr/>
          <p:nvPr/>
        </p:nvSpPr>
        <p:spPr>
          <a:xfrm>
            <a:off x="1016000" y="2136080"/>
            <a:ext cx="30871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6E7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16000" y="2603401"/>
            <a:ext cx="308711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보호법은 있고,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ko-KR" alt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진흥</a:t>
            </a:r>
            <a:r>
              <a:rPr lang="en-US" sz="16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법은</a:t>
            </a: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없다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207841"/>
            <a:ext cx="3087116" cy="7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생명윤리법·개인정보보호법·의료법은 모두 보호 중심이다. </a:t>
            </a:r>
            <a:r>
              <a:rPr lang="ko-KR" alt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국민의 건강증진을 위한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목적</a:t>
            </a:r>
            <a:r>
              <a:rPr lang="ko-KR" alt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기준과 절차를 정한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법률이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없다</a:t>
            </a:r>
            <a:r>
              <a:rPr lang="en-US" altLang="ko-KR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4200" y="1894780"/>
            <a:ext cx="3403600" cy="2254448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0" name="Shape 8"/>
          <p:cNvSpPr/>
          <p:nvPr/>
        </p:nvSpPr>
        <p:spPr>
          <a:xfrm>
            <a:off x="4394200" y="1894780"/>
            <a:ext cx="3403600" cy="2254448"/>
          </a:xfrm>
          <a:custGeom>
            <a:avLst/>
            <a:gdLst/>
            <a:ahLst/>
            <a:cxnLst/>
            <a:rect l="l" t="t" r="r" b="b"/>
            <a:pathLst>
              <a:path w="3403600" h="2254448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27400" y="0"/>
                </a:lnTo>
                <a:arcTo wR="76200" hR="76200" stAng="16200000" swAng="5400000"/>
                <a:lnTo>
                  <a:pt x="340360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1" name="Text 9"/>
          <p:cNvSpPr/>
          <p:nvPr/>
        </p:nvSpPr>
        <p:spPr>
          <a:xfrm>
            <a:off x="4597400" y="2136080"/>
            <a:ext cx="30871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6E7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7400" y="2603401"/>
            <a:ext cx="308711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가이드라인은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개정마다 문턱이 바뀐다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97400" y="3207841"/>
            <a:ext cx="3087116" cy="7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8"/>
              </a:lnSpc>
              <a:buNone/>
            </a:pPr>
            <a:r>
              <a:rPr lang="ko-KR" alt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활용가이드라인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재개정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논의에서 IRB 외 DRB 문턱이 다시 거론된다. </a:t>
            </a:r>
            <a:r>
              <a:rPr lang="en-US" sz="1250" b="1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행정규칙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으로는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연구자</a:t>
            </a:r>
            <a:r>
              <a:rPr lang="ko-KR" alt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예측 가능성을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 어렵다</a:t>
            </a:r>
            <a:r>
              <a:rPr lang="en-US" altLang="ko-KR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75600" y="1894780"/>
            <a:ext cx="3403600" cy="2254448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5" name="Shape 13"/>
          <p:cNvSpPr/>
          <p:nvPr/>
        </p:nvSpPr>
        <p:spPr>
          <a:xfrm>
            <a:off x="7975600" y="1894780"/>
            <a:ext cx="3403600" cy="2254448"/>
          </a:xfrm>
          <a:custGeom>
            <a:avLst/>
            <a:gdLst/>
            <a:ahLst/>
            <a:cxnLst/>
            <a:rect l="l" t="t" r="r" b="b"/>
            <a:pathLst>
              <a:path w="3403600" h="2254448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3327400" y="0"/>
                </a:lnTo>
                <a:arcTo wR="76200" hR="76200" stAng="16200000" swAng="5400000"/>
                <a:lnTo>
                  <a:pt x="340360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6" name="Text 14"/>
          <p:cNvSpPr/>
          <p:nvPr/>
        </p:nvSpPr>
        <p:spPr>
          <a:xfrm>
            <a:off x="8178800" y="2136080"/>
            <a:ext cx="3087116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B6E77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178800" y="2603401"/>
            <a:ext cx="308711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부처 경계를 넘는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결합에는 법이 필요하다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78800" y="3207841"/>
            <a:ext cx="3087116" cy="763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8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복지부 보건의료정보와 과기부 R&amp;D 인체유래물데이터를 결합·공동 활용할 근거는 법률로만 마련할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</a:t>
            </a: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있다</a:t>
            </a:r>
            <a:r>
              <a:rPr lang="en-US" altLang="ko-KR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2800" y="4377829"/>
            <a:ext cx="10566400" cy="850900"/>
          </a:xfrm>
          <a:prstGeom prst="roundRect">
            <a:avLst>
              <a:gd name="adj" fmla="val 7463"/>
            </a:avLst>
          </a:prstGeom>
          <a:solidFill>
            <a:srgbClr val="F6E7DE"/>
          </a:solidFill>
          <a:ln/>
        </p:spPr>
        <p:txBody>
          <a:bodyPr wrap="square" lIns="222701" tIns="121101" rIns="0" bIns="95701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심의 일원화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가명바이오데이터 조항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</a:t>
            </a:r>
            <a:r>
              <a:rPr lang="en-US" sz="15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빠지면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ko-KR" alt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활용 지체 이슈</a:t>
            </a:r>
            <a:r>
              <a:rPr lang="ko-KR" alt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는 </a:t>
            </a:r>
            <a:r>
              <a:rPr lang="en-US" sz="15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그대로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남는다.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</a:t>
            </a: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조항</a:t>
            </a:r>
            <a:r>
              <a:rPr lang="ko-KR" alt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유지한</a:t>
            </a: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바이오데이터법을 반드시 제정해야 한다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12800" y="4377829"/>
            <a:ext cx="10566400" cy="850900"/>
          </a:xfrm>
          <a:custGeom>
            <a:avLst/>
            <a:gdLst/>
            <a:ahLst/>
            <a:cxnLst/>
            <a:rect l="l" t="t" r="r" b="b"/>
            <a:pathLst>
              <a:path w="10566400" h="850900">
                <a:moveTo>
                  <a:pt x="63500" y="850900"/>
                </a:moveTo>
                <a:lnTo>
                  <a:pt x="63500" y="850900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787400"/>
                </a:lnTo>
                <a:arcTo wR="25400" hR="63500" stAng="10800000" swAng="-5400000"/>
                <a:close/>
              </a:path>
            </a:pathLst>
          </a:custGeom>
          <a:solidFill>
            <a:srgbClr val="C2521B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1" name="Text 19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Ⅳ. 2단계 추가 고려 ① 심의 3-트랙과 처리기한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법의 통합 심의 위에,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데이터 상태별 면제 트랙과 처리기한을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360216"/>
            <a:ext cx="3397250" cy="2273102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5" name="Text 3"/>
          <p:cNvSpPr/>
          <p:nvPr/>
        </p:nvSpPr>
        <p:spPr>
          <a:xfrm>
            <a:off x="1022350" y="2566591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868811"/>
            <a:ext cx="307403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가명처리가 끝난 데이터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</a:t>
            </a:r>
            <a:r>
              <a:rPr lang="en-US" sz="16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</a:t>
            </a:r>
            <a:r>
              <a:rPr lang="ko-KR" alt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전문기관</a:t>
            </a: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보유)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2350" y="3485952"/>
            <a:ext cx="307403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IRB·DRB 모두 면제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활용계획 제출·승인만으로 이용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22350" y="4051102"/>
            <a:ext cx="2984500" cy="375841"/>
          </a:xfrm>
          <a:prstGeom prst="roundRect">
            <a:avLst>
              <a:gd name="adj" fmla="val 13516"/>
            </a:avLst>
          </a:prstGeom>
          <a:solidFill>
            <a:srgbClr val="E4EEEF"/>
          </a:solidFill>
          <a:ln/>
        </p:spPr>
        <p:txBody>
          <a:bodyPr wrap="square" lIns="99421" tIns="48621" rIns="16744" bIns="2322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2주 이내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97375" y="2360216"/>
            <a:ext cx="3397250" cy="2273102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0" name="Text 8"/>
          <p:cNvSpPr/>
          <p:nvPr/>
        </p:nvSpPr>
        <p:spPr>
          <a:xfrm>
            <a:off x="4603750" y="2566591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03750" y="2868811"/>
            <a:ext cx="307403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가명처리 판단이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필요한 데이터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3750" y="3485952"/>
            <a:ext cx="307403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DRB가 1주 안에 가명처리 적정성 판단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판단 즉시 IRB 면제로 자동 연계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603750" y="4051102"/>
            <a:ext cx="2984500" cy="375841"/>
          </a:xfrm>
          <a:prstGeom prst="roundRect">
            <a:avLst>
              <a:gd name="adj" fmla="val 13516"/>
            </a:avLst>
          </a:prstGeom>
          <a:solidFill>
            <a:srgbClr val="E4EEEF"/>
          </a:solidFill>
          <a:ln/>
        </p:spPr>
        <p:txBody>
          <a:bodyPr wrap="square" lIns="99421" tIns="48621" rIns="16744" bIns="2322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 2주 이내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78775" y="2360216"/>
            <a:ext cx="3397250" cy="2273102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5" name="Text 13"/>
          <p:cNvSpPr/>
          <p:nvPr/>
        </p:nvSpPr>
        <p:spPr>
          <a:xfrm>
            <a:off x="8185150" y="2566591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 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85150" y="2868811"/>
            <a:ext cx="3074035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식별정보 포함·</a:t>
            </a:r>
            <a:endParaRPr lang="en-US" sz="1600" dirty="0"/>
          </a:p>
          <a:p>
            <a:pPr marL="0" indent="0" algn="l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동의 범위 밖 데이터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85150" y="3485952"/>
            <a:ext cx="3074035" cy="501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IRB 심의 유지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IRB·DRB 단일 창구에서 동시 심의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85150" y="4051102"/>
            <a:ext cx="2984500" cy="375841"/>
          </a:xfrm>
          <a:prstGeom prst="roundRect">
            <a:avLst>
              <a:gd name="adj" fmla="val 13516"/>
            </a:avLst>
          </a:prstGeom>
          <a:solidFill>
            <a:srgbClr val="ECEFF3"/>
          </a:solidFill>
          <a:ln/>
        </p:spPr>
        <p:txBody>
          <a:bodyPr wrap="square" lIns="99421" tIns="48621" rIns="16744" bIns="23221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5A65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이중 심의 폐지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1850" y="4865092"/>
            <a:ext cx="0" cy="336550"/>
          </a:xfrm>
          <a:prstGeom prst="line">
            <a:avLst/>
          </a:prstGeom>
          <a:noFill/>
          <a:ln w="38100">
            <a:solidFill>
              <a:srgbClr val="0B6E77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20" name="Text 18"/>
          <p:cNvSpPr/>
          <p:nvPr/>
        </p:nvSpPr>
        <p:spPr>
          <a:xfrm>
            <a:off x="1028700" y="4890492"/>
            <a:ext cx="1066101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원칙: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한 번의 판단, 한 번의 창구 — 같은 데이터를 두 번 심의하지 않는다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Ⅳ. 2단계 추가 고려 ② 가명처리 판단기준 (하위법령)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5087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'한국형 Safe Harbor'와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유전체 데이터의 가명정보 분류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665015"/>
            <a:ext cx="5181600" cy="2560127"/>
          </a:xfrm>
          <a:prstGeom prst="roundRect">
            <a:avLst>
              <a:gd name="adj" fmla="val 3580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5" name="Text 3"/>
          <p:cNvSpPr/>
          <p:nvPr/>
        </p:nvSpPr>
        <p:spPr>
          <a:xfrm>
            <a:off x="1022350" y="2871391"/>
            <a:ext cx="491191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명시적 처리기준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01725" y="3204071"/>
            <a:ext cx="4824921" cy="1627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4625" indent="-174625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직접식별자 목록(성명·주민번호·연락처·주소·등록번호 등)을 제거·코드화하면 가명정보로 간주</a:t>
            </a:r>
            <a:endParaRPr lang="en-US" sz="1400" dirty="0"/>
          </a:p>
          <a:p>
            <a:pPr marL="174625" indent="-174625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유형별 최소 처리기준 고시: 임상·영상·오믹스</a:t>
            </a:r>
            <a:endParaRPr lang="en-US" sz="1400" dirty="0"/>
          </a:p>
          <a:p>
            <a:pPr marL="174625" indent="-174625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기준을 지킨 처리기관은 책임 면제 — 판단 회피 해소</a:t>
            </a:r>
            <a:endParaRPr lang="en-US" sz="1400" dirty="0"/>
          </a:p>
          <a:p>
            <a:pPr marL="174625" indent="-174625" algn="l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발현량·요약통계 등 저위험 오믹스는 가명정보로 인정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3950" y="2661841"/>
            <a:ext cx="5175250" cy="2560126"/>
          </a:xfrm>
          <a:prstGeom prst="roundRect">
            <a:avLst>
              <a:gd name="adj" fmla="val 3724"/>
            </a:avLst>
          </a:prstGeom>
          <a:solidFill>
            <a:srgbClr val="14233B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8" name="Text 6"/>
          <p:cNvSpPr/>
          <p:nvPr/>
        </p:nvSpPr>
        <p:spPr>
          <a:xfrm>
            <a:off x="6407150" y="2865041"/>
            <a:ext cx="491191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 데이터의 올바른 분류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7150" y="3295695"/>
            <a:ext cx="1318617" cy="391120"/>
          </a:xfrm>
          <a:prstGeom prst="roundRect">
            <a:avLst>
              <a:gd name="adj" fmla="val 12988"/>
            </a:avLst>
          </a:prstGeom>
          <a:solidFill>
            <a:srgbClr val="2A3D5A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 서열</a:t>
            </a:r>
            <a:endParaRPr lang="en-US" sz="1200" dirty="0"/>
          </a:p>
        </p:txBody>
      </p:sp>
      <p:pic>
        <p:nvPicPr>
          <p:cNvPr id="10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1967" y="3421405"/>
            <a:ext cx="254000" cy="1397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2167" y="3295695"/>
            <a:ext cx="1318716" cy="391120"/>
          </a:xfrm>
          <a:prstGeom prst="roundRect">
            <a:avLst>
              <a:gd name="adj" fmla="val 12988"/>
            </a:avLst>
          </a:prstGeom>
          <a:solidFill>
            <a:srgbClr val="2A3D5A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식별자 분리</a:t>
            </a:r>
            <a:endParaRPr lang="en-US" sz="1200" dirty="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7084" y="3421405"/>
            <a:ext cx="254000" cy="139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57284" y="3295695"/>
            <a:ext cx="1318716" cy="391120"/>
          </a:xfrm>
          <a:prstGeom prst="roundRect">
            <a:avLst>
              <a:gd name="adj" fmla="val 12988"/>
            </a:avLst>
          </a:prstGeom>
          <a:solidFill>
            <a:srgbClr val="5CC8C9"/>
          </a:solidFill>
          <a:ln/>
        </p:spPr>
        <p:txBody>
          <a:bodyPr wrap="square" lIns="48621" tIns="74021" rIns="48621" bIns="48621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가명정보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407150" y="3843946"/>
            <a:ext cx="4911916" cy="849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250" dirty="0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유전체는 그 자체가 식별자가 아니라, </a:t>
            </a:r>
            <a:r>
              <a:rPr lang="en-US" sz="1250" b="1" dirty="0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정보와 결합할 때 식별 가능한 정보</a:t>
            </a:r>
            <a:r>
              <a:rPr lang="en-US" sz="1250" dirty="0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다. 다른 인체유래물 데이터와 같은 가명정보로 다뤄야 한다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35567" y="4695428"/>
            <a:ext cx="4911916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8"/>
              </a:lnSpc>
              <a:buNone/>
            </a:pPr>
            <a:r>
              <a:rPr lang="en-US" sz="1250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희귀변이 등 고위험 정보는 배제가 아닌 </a:t>
            </a:r>
            <a:r>
              <a:rPr lang="en-US" sz="1250" dirty="0" err="1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범주화·접근등급으로</a:t>
            </a:r>
            <a:r>
              <a:rPr lang="en-US" sz="1250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50" dirty="0" err="1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</a:t>
            </a:r>
            <a:r>
              <a:rPr lang="ko-KR" altLang="en-US" sz="1250" dirty="0">
                <a:solidFill>
                  <a:srgbClr val="FF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필요</a:t>
            </a:r>
            <a:endParaRPr lang="en-US" sz="1250" dirty="0">
              <a:solidFill>
                <a:srgbClr val="FF0000"/>
              </a:solidFill>
            </a:endParaRPr>
          </a:p>
        </p:txBody>
      </p:sp>
      <p:sp>
        <p:nvSpPr>
          <p:cNvPr id="16" name="Text 12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참고: 美 HIPAA De-identification Safe Harbor — 18개 식별자 제거 시 비식별 정보로 간주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Ⅳ. 2단계 추가 고려 ③ 탐색적 연구 허용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785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사전에 검증된 연구자에게,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검증된 환경에서, 폭넓게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2309416"/>
            <a:ext cx="2520950" cy="135255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5" name="Text 3"/>
          <p:cNvSpPr/>
          <p:nvPr/>
        </p:nvSpPr>
        <p:spPr>
          <a:xfrm>
            <a:off x="996950" y="2490391"/>
            <a:ext cx="22237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폭넓은 데이터 신청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96950" y="2795191"/>
            <a:ext cx="222377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과제·변수 단위가 아닌 연구영역·데이터 카탈로그 단위로 신청. 탐색 중 데이터 추가는 신고로 갈음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95675" y="2309416"/>
            <a:ext cx="2520950" cy="135255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8" name="Text 6"/>
          <p:cNvSpPr/>
          <p:nvPr/>
        </p:nvSpPr>
        <p:spPr>
          <a:xfrm>
            <a:off x="3676650" y="2490391"/>
            <a:ext cx="22237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사전인증 화이트리스트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76650" y="2795191"/>
            <a:ext cx="222377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 협약·연구윤리 및 보안교육·재식별 금지 서약을 마친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전문가는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</a:t>
            </a:r>
            <a:r>
              <a:rPr lang="ko-KR" alt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접근</a:t>
            </a: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승인. 연 1회 갱신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5375" y="2309416"/>
            <a:ext cx="2520950" cy="135255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1" name="Text 9"/>
          <p:cNvSpPr/>
          <p:nvPr/>
        </p:nvSpPr>
        <p:spPr>
          <a:xfrm>
            <a:off x="6356350" y="2490391"/>
            <a:ext cx="22237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비폐쇄형 안전 분석환경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6350" y="2795191"/>
            <a:ext cx="222377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클라우드·기관 보안서버 허용. 접근통제와 이용기록으로 안전 확보, AI 도구·GPU 사용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55075" y="2309416"/>
            <a:ext cx="2520950" cy="1352550"/>
          </a:xfrm>
          <a:prstGeom prst="roundRect">
            <a:avLst>
              <a:gd name="adj" fmla="val 5399"/>
            </a:avLst>
          </a:prstGeom>
          <a:solidFill>
            <a:srgbClr val="FFFFFF"/>
          </a:solidFill>
          <a:ln w="6350">
            <a:solidFill>
              <a:srgbClr val="DCDFE4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4" name="Text 12"/>
          <p:cNvSpPr/>
          <p:nvPr/>
        </p:nvSpPr>
        <p:spPr>
          <a:xfrm>
            <a:off x="9036050" y="2490391"/>
            <a:ext cx="222377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강한 사후 책임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036050" y="2795191"/>
            <a:ext cx="222377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재식별 시도 금지, 위반 시 자격 박탈·제재, 결과물 반출 검토, 이용 종료 후 파기 확인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3868341"/>
            <a:ext cx="10566400" cy="1352550"/>
          </a:xfrm>
          <a:prstGeom prst="roundRect">
            <a:avLst>
              <a:gd name="adj" fmla="val 8403"/>
            </a:avLst>
          </a:prstGeom>
          <a:solidFill>
            <a:srgbClr val="E4EEEF"/>
          </a:solidFill>
          <a:ln/>
        </p:spPr>
        <p:txBody>
          <a:bodyPr wrap="square" lIns="159201" tIns="121101" rIns="0" bIns="95701" rtlCol="0" anchor="t">
            <a:norm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All of Us</a:t>
            </a:r>
            <a:r>
              <a: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</a:t>
            </a:r>
            <a:r>
              <a: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협약 + 교육 + 행동강령 서약 → Researcher Workbench </a:t>
            </a:r>
            <a:r>
              <a:rPr lang="en-US" sz="16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</a:t>
            </a:r>
            <a:r>
              <a: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UK Biobank</a:t>
            </a:r>
            <a:r>
              <a: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2만 명+ 승인 연구자, </a:t>
            </a:r>
            <a:r>
              <a:rPr lang="en-US" sz="16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</a:t>
            </a:r>
            <a:r>
              <a: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</a:t>
            </a:r>
            <a:endParaRPr lang="en-US" sz="1600" dirty="0">
              <a:solidFill>
                <a:srgbClr val="14233B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dbGaP</a:t>
            </a:r>
            <a:r>
              <a: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600" dirty="0" err="1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기관장</a:t>
            </a:r>
            <a:r>
              <a:rPr lang="en-US" sz="16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승인, 연 1회 갱신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38327" y="5498505"/>
            <a:ext cx="0" cy="336550"/>
          </a:xfrm>
          <a:prstGeom prst="line">
            <a:avLst/>
          </a:prstGeom>
          <a:noFill/>
          <a:ln w="38100">
            <a:solidFill>
              <a:srgbClr val="0B6E77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8" name="Text 16"/>
          <p:cNvSpPr/>
          <p:nvPr/>
        </p:nvSpPr>
        <p:spPr>
          <a:xfrm>
            <a:off x="1035177" y="5523905"/>
            <a:ext cx="10661015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전환: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5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과제마다 '사전 심의'에서 사람과 환경에 대한 '사전 인증 + 사후 책임'</a:t>
            </a:r>
            <a:r>
              <a:rPr lang="en-US" sz="1500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C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0B6E7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Ⅳ. 2단계 추가 고려 ④ 결합·호스팅 운영 설계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883392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한 번 결합하고 가명처리해,</a:t>
            </a:r>
            <a:endParaRPr lang="en-US" sz="2800" dirty="0"/>
          </a:p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14233B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데이터전문기관에서 여러 번 쓴다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357041"/>
            <a:ext cx="2286000" cy="736501"/>
          </a:xfrm>
          <a:prstGeom prst="roundRect">
            <a:avLst>
              <a:gd name="adj" fmla="val 862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5" name="Shape 3"/>
          <p:cNvSpPr/>
          <p:nvPr/>
        </p:nvSpPr>
        <p:spPr>
          <a:xfrm>
            <a:off x="812800" y="2357041"/>
            <a:ext cx="2286000" cy="736501"/>
          </a:xfrm>
          <a:custGeom>
            <a:avLst/>
            <a:gdLst/>
            <a:ahLst/>
            <a:cxnLst/>
            <a:rect l="l" t="t" r="r" b="b"/>
            <a:pathLst>
              <a:path w="2286000" h="736501">
                <a:moveTo>
                  <a:pt x="63500" y="736501"/>
                </a:moveTo>
                <a:lnTo>
                  <a:pt x="63500" y="736501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673001"/>
                </a:lnTo>
                <a:arcTo wR="25400" hR="63500" stAng="10800000" swAng="-5400000"/>
                <a:close/>
              </a:path>
            </a:pathLst>
          </a:custGeom>
          <a:solidFill>
            <a:srgbClr val="A8441A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6" name="Text 4"/>
          <p:cNvSpPr/>
          <p:nvPr/>
        </p:nvSpPr>
        <p:spPr>
          <a:xfrm>
            <a:off x="1003300" y="2484041"/>
            <a:ext cx="200139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보건의료데이터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753221"/>
            <a:ext cx="20955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병원 EMR·건강보험·건강검진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195141"/>
            <a:ext cx="2286000" cy="949821"/>
          </a:xfrm>
          <a:prstGeom prst="roundRect">
            <a:avLst>
              <a:gd name="adj" fmla="val 668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9" name="Shape 7"/>
          <p:cNvSpPr/>
          <p:nvPr/>
        </p:nvSpPr>
        <p:spPr>
          <a:xfrm>
            <a:off x="812800" y="3195141"/>
            <a:ext cx="2286000" cy="949821"/>
          </a:xfrm>
          <a:custGeom>
            <a:avLst/>
            <a:gdLst/>
            <a:ahLst/>
            <a:cxnLst/>
            <a:rect l="l" t="t" r="r" b="b"/>
            <a:pathLst>
              <a:path w="2286000" h="949821">
                <a:moveTo>
                  <a:pt x="63500" y="949821"/>
                </a:moveTo>
                <a:lnTo>
                  <a:pt x="63500" y="949821"/>
                </a:lnTo>
                <a:arcTo wR="63500" hR="63500" stAng="5400000" swAng="5400000"/>
                <a:lnTo>
                  <a:pt x="0" y="63500"/>
                </a:lnTo>
                <a:arcTo wR="63500" hR="63500" stAng="10800000" swAng="5400000"/>
                <a:lnTo>
                  <a:pt x="63500" y="0"/>
                </a:lnTo>
                <a:arcTo wR="25400" hR="63500" stAng="16200000" swAng="-5400000"/>
                <a:lnTo>
                  <a:pt x="38100" y="886321"/>
                </a:lnTo>
                <a:arcTo wR="25400" hR="63500" stAng="10800000" swAng="-5400000"/>
                <a:close/>
              </a:path>
            </a:pathLst>
          </a:cu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0" name="Text 8"/>
          <p:cNvSpPr/>
          <p:nvPr/>
        </p:nvSpPr>
        <p:spPr>
          <a:xfrm>
            <a:off x="1003300" y="3322141"/>
            <a:ext cx="200139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R&amp;D 인체유래물데이터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59756" y="3591322"/>
            <a:ext cx="22860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유전체·전사체·단백체 (K-BDS 등)</a:t>
            </a:r>
            <a:endParaRPr lang="en-US" sz="1200" dirty="0"/>
          </a:p>
        </p:txBody>
      </p:sp>
      <p:pic>
        <p:nvPicPr>
          <p:cNvPr id="12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0" y="3155752"/>
            <a:ext cx="355600" cy="1905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660775" y="2741116"/>
            <a:ext cx="2203450" cy="1019671"/>
          </a:xfrm>
          <a:prstGeom prst="roundRect">
            <a:avLst>
              <a:gd name="adj" fmla="val 5916"/>
            </a:avLst>
          </a:prstGeom>
          <a:solidFill>
            <a:srgbClr val="FFFFFF"/>
          </a:solidFill>
          <a:ln w="6350">
            <a:solidFill>
              <a:srgbClr val="C9CFD8"/>
            </a:solidFill>
            <a:prstDash val="solid"/>
          </a:ln>
        </p:spPr>
        <p:txBody>
          <a:bodyPr/>
          <a:lstStyle/>
          <a:p>
            <a:endParaRPr lang="ko-Kore-US" altLang="en-US"/>
          </a:p>
        </p:txBody>
      </p:sp>
      <p:sp>
        <p:nvSpPr>
          <p:cNvPr id="14" name="Text 11"/>
          <p:cNvSpPr/>
          <p:nvPr/>
        </p:nvSpPr>
        <p:spPr>
          <a:xfrm>
            <a:off x="3816350" y="2896691"/>
            <a:ext cx="194906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결합전문기관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816350" y="3178572"/>
            <a:ext cx="194906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연구용 가명키로 결합 → 결합 후 가명처리</a:t>
            </a:r>
            <a:endParaRPr lang="en-US" sz="1200" dirty="0"/>
          </a:p>
        </p:txBody>
      </p:sp>
      <p:pic>
        <p:nvPicPr>
          <p:cNvPr id="16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69000" y="3155752"/>
            <a:ext cx="355600" cy="1905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426200" y="2744291"/>
            <a:ext cx="2197100" cy="1013321"/>
          </a:xfrm>
          <a:prstGeom prst="roundRect">
            <a:avLst>
              <a:gd name="adj" fmla="val 6267"/>
            </a:avLst>
          </a:prstGeom>
          <a:solidFill>
            <a:srgbClr val="14233B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8" name="Text 14"/>
          <p:cNvSpPr/>
          <p:nvPr/>
        </p:nvSpPr>
        <p:spPr>
          <a:xfrm>
            <a:off x="6578600" y="2896691"/>
            <a:ext cx="194906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데이터전문기관 호스팅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56828" y="3178572"/>
            <a:ext cx="2146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카탈로그 공개 + </a:t>
            </a:r>
            <a:r>
              <a:rPr lang="en-US" sz="1200" dirty="0" err="1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</a:t>
            </a:r>
            <a:r>
              <a:rPr lang="en-US" sz="1200" dirty="0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1200" dirty="0" err="1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분석환경</a:t>
            </a:r>
            <a:endParaRPr lang="en-US" sz="1200" dirty="0">
              <a:solidFill>
                <a:srgbClr val="C9D4E2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 marL="0" indent="0" algn="l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</a:rPr>
              <a:t>(</a:t>
            </a:r>
            <a:r>
              <a:rPr lang="ko-KR" altLang="en-US" sz="1200" dirty="0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</a:rPr>
              <a:t>가명데이터</a:t>
            </a:r>
            <a:r>
              <a:rPr lang="en-US" altLang="ko-KR" sz="1200" dirty="0">
                <a:solidFill>
                  <a:srgbClr val="C9D4E2"/>
                </a:solidFill>
                <a:latin typeface="Noto Sans KR" pitchFamily="34" charset="0"/>
                <a:ea typeface="Noto Sans KR" pitchFamily="34" charset="-122"/>
              </a:rPr>
              <a:t>)</a:t>
            </a:r>
            <a:endParaRPr lang="en-US" sz="1200" dirty="0"/>
          </a:p>
        </p:txBody>
      </p:sp>
      <p:pic>
        <p:nvPicPr>
          <p:cNvPr id="20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24900" y="3155752"/>
            <a:ext cx="355600" cy="19050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9182100" y="2850952"/>
            <a:ext cx="2197100" cy="800001"/>
          </a:xfrm>
          <a:prstGeom prst="roundRect">
            <a:avLst>
              <a:gd name="adj" fmla="val 7937"/>
            </a:avLst>
          </a:prstGeom>
          <a:solidFill>
            <a:srgbClr val="0B6E77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2" name="Text 17"/>
          <p:cNvSpPr/>
          <p:nvPr/>
        </p:nvSpPr>
        <p:spPr>
          <a:xfrm>
            <a:off x="9334500" y="3003352"/>
            <a:ext cx="194906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사전인증 연구자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334500" y="3285232"/>
            <a:ext cx="19490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E4EEE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Track A로 2주 내 활용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12800" y="4373563"/>
            <a:ext cx="3420467" cy="1026120"/>
          </a:xfrm>
          <a:prstGeom prst="roundRect">
            <a:avLst>
              <a:gd name="adj" fmla="val 61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5" name="Text 20"/>
          <p:cNvSpPr/>
          <p:nvPr/>
        </p:nvSpPr>
        <p:spPr>
          <a:xfrm>
            <a:off x="990600" y="4525963"/>
            <a:ext cx="31568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법안 근거 위의 운영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990600" y="4790083"/>
            <a:ext cx="315681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법안의 정보 연계 조항을 결합·호스팅 운영체계로 구체화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385667" y="4373563"/>
            <a:ext cx="3420566" cy="1026120"/>
          </a:xfrm>
          <a:prstGeom prst="roundRect">
            <a:avLst>
              <a:gd name="adj" fmla="val 61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28" name="Text 23"/>
          <p:cNvSpPr/>
          <p:nvPr/>
        </p:nvSpPr>
        <p:spPr>
          <a:xfrm>
            <a:off x="4563467" y="4525963"/>
            <a:ext cx="31569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결합키 표준화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4563467" y="4790083"/>
            <a:ext cx="315691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R&amp;D 생산 단계부터 연구용 가명키 부여, 재결합 비용 최소화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958634" y="4373563"/>
            <a:ext cx="3420566" cy="1026120"/>
          </a:xfrm>
          <a:prstGeom prst="roundRect">
            <a:avLst>
              <a:gd name="adj" fmla="val 618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31" name="Text 26"/>
          <p:cNvSpPr/>
          <p:nvPr/>
        </p:nvSpPr>
        <p:spPr>
          <a:xfrm>
            <a:off x="8136434" y="4525963"/>
            <a:ext cx="31569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3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 데이터 재사용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136434" y="4790083"/>
            <a:ext cx="3156915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번 결합·가명처리한 데이터는 후속 연구에 재심의 없이 제공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 제정 토론회 · 남진우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6B768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3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2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CC8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맺음 — 제언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03920"/>
            <a:ext cx="10883392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800" b="1" i="0" dirty="0">
                <a:solidFill>
                  <a:srgbClr val="F4F2EC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법으로 구조를 풀고, 운영으로 2주</a:t>
            </a:r>
            <a:r>
              <a:rPr lang="ko-KR" altLang="en-US" sz="2800" b="1" i="0" dirty="0">
                <a:solidFill>
                  <a:srgbClr val="F4F2EC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내 데이터 활용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894780"/>
            <a:ext cx="5181600" cy="3145306"/>
          </a:xfrm>
          <a:prstGeom prst="roundRect">
            <a:avLst>
              <a:gd name="adj" fmla="val 3155"/>
            </a:avLst>
          </a:prstGeom>
          <a:solidFill>
            <a:srgbClr val="1F3350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5" name="Shape 3"/>
          <p:cNvSpPr/>
          <p:nvPr/>
        </p:nvSpPr>
        <p:spPr>
          <a:xfrm>
            <a:off x="812800" y="1894780"/>
            <a:ext cx="5181600" cy="2415282"/>
          </a:xfrm>
          <a:custGeom>
            <a:avLst/>
            <a:gdLst/>
            <a:ahLst/>
            <a:cxnLst/>
            <a:rect l="l" t="t" r="r" b="b"/>
            <a:pathLst>
              <a:path w="5181600" h="24152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5105400" y="0"/>
                </a:lnTo>
                <a:arcTo wR="76200" hR="76200" stAng="16200000" swAng="5400000"/>
                <a:lnTo>
                  <a:pt x="518160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5CC8C9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6" name="Text 4"/>
          <p:cNvSpPr/>
          <p:nvPr/>
        </p:nvSpPr>
        <p:spPr>
          <a:xfrm>
            <a:off x="1041400" y="2136080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5CC8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 · 현재 이슈 해결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1400" y="2438301"/>
            <a:ext cx="486613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바이오데이터법, 반드시 제정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14044" y="2786261"/>
            <a:ext cx="4785868" cy="1523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국가바이오데이터통합시스템</a:t>
            </a:r>
            <a:endParaRPr lang="en-US" sz="1600" dirty="0"/>
          </a:p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AI바이오 심의 일원화 (IRB·면제 확인 통합)</a:t>
            </a:r>
            <a:endParaRPr lang="en-US" sz="1600" dirty="0"/>
          </a:p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가명바이오데이터 처리 근거</a:t>
            </a:r>
            <a:endParaRPr lang="en-US" sz="1600" dirty="0"/>
          </a:p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보건의료정보 연계·결합 활용 근거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97600" y="1894779"/>
            <a:ext cx="5181600" cy="3145305"/>
          </a:xfrm>
          <a:prstGeom prst="roundRect">
            <a:avLst>
              <a:gd name="adj" fmla="val 3155"/>
            </a:avLst>
          </a:prstGeom>
          <a:solidFill>
            <a:srgbClr val="1F3350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0" name="Shape 8"/>
          <p:cNvSpPr/>
          <p:nvPr/>
        </p:nvSpPr>
        <p:spPr>
          <a:xfrm>
            <a:off x="6197600" y="1894780"/>
            <a:ext cx="5181600" cy="2415282"/>
          </a:xfrm>
          <a:custGeom>
            <a:avLst/>
            <a:gdLst/>
            <a:ahLst/>
            <a:cxnLst/>
            <a:rect l="l" t="t" r="r" b="b"/>
            <a:pathLst>
              <a:path w="5181600" h="2415282">
                <a:moveTo>
                  <a:pt x="0" y="76200"/>
                </a:moveTo>
                <a:lnTo>
                  <a:pt x="0" y="76200"/>
                </a:lnTo>
                <a:arcTo wR="76200" hR="76200" stAng="10800000" swAng="5400000"/>
                <a:lnTo>
                  <a:pt x="5105400" y="0"/>
                </a:lnTo>
                <a:arcTo wR="76200" hR="76200" stAng="16200000" swAng="5400000"/>
                <a:lnTo>
                  <a:pt x="5181600" y="76200"/>
                </a:lnTo>
                <a:arcTo wR="76200" hR="38100" stAng="0" swAng="-5400000"/>
                <a:lnTo>
                  <a:pt x="76200" y="38100"/>
                </a:lnTo>
                <a:arcTo wR="76200" hR="38100" stAng="16200000" swAng="-5400000"/>
                <a:close/>
              </a:path>
            </a:pathLst>
          </a:custGeom>
          <a:solidFill>
            <a:srgbClr val="F0915A"/>
          </a:solidFill>
          <a:ln/>
        </p:spPr>
        <p:txBody>
          <a:bodyPr/>
          <a:lstStyle/>
          <a:p>
            <a:endParaRPr lang="ko-Kore-US" altLang="en-US"/>
          </a:p>
        </p:txBody>
      </p:sp>
      <p:sp>
        <p:nvSpPr>
          <p:cNvPr id="11" name="Text 9"/>
          <p:cNvSpPr/>
          <p:nvPr/>
        </p:nvSpPr>
        <p:spPr>
          <a:xfrm>
            <a:off x="6426200" y="2136080"/>
            <a:ext cx="48661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F091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 · 법과 함께 추가로 고려할 제언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26200" y="2438301"/>
            <a:ext cx="4866132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2000" b="1" dirty="0">
                <a:solidFill>
                  <a:srgbClr val="F4F2E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하위법령·운영 체계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8844" y="2786261"/>
            <a:ext cx="4785868" cy="21210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신청-활용 2주 처리기한, 심의 3-트랙</a:t>
            </a:r>
            <a:endParaRPr lang="en-US" sz="1600" dirty="0"/>
          </a:p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한국형 Safe Harbor, 유전체 가명정보 분류</a:t>
            </a:r>
            <a:endParaRPr lang="en-US" sz="1600" dirty="0"/>
          </a:p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사전인증 화이트리스트, 탐색적 연구 허용</a:t>
            </a:r>
            <a:endParaRPr lang="en-US" sz="1600" dirty="0"/>
          </a:p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비폐쇄형 안전 분석환경</a:t>
            </a:r>
            <a:endParaRPr lang="en-US" sz="1600" dirty="0"/>
          </a:p>
          <a:p>
            <a:pPr marL="181356" indent="-181356" algn="l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D3DCE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결합키 표준화, 결합 데이터 재사용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5235674"/>
            <a:ext cx="10883392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F0915A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안전과 활용은 양자택일이 아닙니다.</a:t>
            </a:r>
            <a:endParaRPr lang="en-US" sz="1900" dirty="0"/>
          </a:p>
          <a:p>
            <a:pPr marL="0" indent="0" algn="l">
              <a:lnSpc>
                <a:spcPts val="2755"/>
              </a:lnSpc>
              <a:buNone/>
            </a:pPr>
            <a:r>
              <a:rPr lang="en-US" sz="1900" b="1" dirty="0">
                <a:solidFill>
                  <a:srgbClr val="F0915A"/>
                </a:solidFill>
                <a:latin typeface="Noto Serif KR" pitchFamily="18" charset="0"/>
                <a:ea typeface="Noto Serif KR" pitchFamily="18" charset="-122"/>
                <a:cs typeface="Noto Serif KR" pitchFamily="18" charset="-120"/>
              </a:rPr>
              <a:t>검증된 사람에게, 검증된 환경에서, 빠르게.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12800" y="62890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0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남진우 · K-문샷 AI신약 PD · 한양대학교 생명과학과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66400" y="62890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altLang="ko-KR" sz="1200" dirty="0">
                <a:solidFill>
                  <a:srgbClr val="8FA0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바이오데이터 활용 필요성과 개선 과제">
  <a:themeElements>
    <a:clrScheme name="바이오데이터 활용 필요성과 개선 과제">
      <a:dk1>
        <a:srgbClr val="14233B"/>
      </a:dk1>
      <a:lt1>
        <a:srgbClr val="F7F6F2"/>
      </a:lt1>
      <a:dk2>
        <a:srgbClr val="4D5869"/>
      </a:dk2>
      <a:lt2>
        <a:srgbClr val="E0E1E0"/>
      </a:lt2>
      <a:accent1>
        <a:srgbClr val="0B6E77"/>
      </a:accent1>
      <a:accent2>
        <a:srgbClr val="C2521B"/>
      </a:accent2>
      <a:accent3>
        <a:srgbClr val="A8441A"/>
      </a:accent3>
      <a:accent4>
        <a:srgbClr val="5CC8C9"/>
      </a:accent4>
      <a:accent5>
        <a:srgbClr val="BFE6E4"/>
      </a:accent5>
      <a:accent6>
        <a:srgbClr val="2A3D5A"/>
      </a:accent6>
      <a:hlink>
        <a:srgbClr val="0563C1"/>
      </a:hlink>
      <a:folHlink>
        <a:srgbClr val="954F72"/>
      </a:folHlink>
    </a:clrScheme>
    <a:fontScheme name="바이오데이터 활용 필요성과 개선 과제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3869</Words>
  <Application>Microsoft Macintosh PowerPoint</Application>
  <PresentationFormat>와이드스크린</PresentationFormat>
  <Paragraphs>488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Noto Sans KR</vt:lpstr>
      <vt:lpstr>Noto Serif KR</vt:lpstr>
      <vt:lpstr>Arial</vt:lpstr>
      <vt:lpstr>바이오데이터 활용 필요성과 개선 과제</vt:lpstr>
      <vt:lpstr>AI 바이오 현장에서 바라본 바이오데이터 활용 필요성과 개선 과제</vt:lpstr>
      <vt:lpstr>AI 바이오의 경쟁력은 모델보다 '연결된 데이터'에서 나온다</vt:lpstr>
      <vt:lpstr>치료 표적 발굴과 신약 독성 예측은 환자 데이터와 만나야 완성된다</vt:lpstr>
      <vt:lpstr>정밀의료는 동일 환자의 '유전체 + 치료 이력 + 경과'에서 출발한다</vt:lpstr>
      <vt:lpstr>한쪽 데이터만으로는 풀리지 않는 질문들</vt:lpstr>
      <vt:lpstr>데이터는 세계 수준으로 쌓였지만, 연구 현장에는 닿지 않는다</vt:lpstr>
      <vt:lpstr>미국 1주, 영국 2개월, 한국 8개월 이상</vt:lpstr>
      <vt:lpstr>탐색적 연구는 반복이다. 반복마다 심의를 받으면 수년이 걸린다</vt:lpstr>
      <vt:lpstr>시간을 잡아먹는 네 가지 병목</vt:lpstr>
      <vt:lpstr>신청 → 활용, 2주 이내</vt:lpstr>
      <vt:lpstr>현장의 병목마다, 법안에 해법이 있다</vt:lpstr>
      <vt:lpstr>왜 가이드라인이 아니라 '법률'이어야 하는가</vt:lpstr>
      <vt:lpstr>법의 통합 심의 위에, 데이터 상태별 면제 트랙과 처리기한을</vt:lpstr>
      <vt:lpstr>'한국형 Safe Harbor'와 유전체 데이터의 가명정보 분류</vt:lpstr>
      <vt:lpstr>사전에 검증된 연구자에게, 검증된 환경에서, 폭넓게</vt:lpstr>
      <vt:lpstr>한 번 결합하고 가명처리해, 데이터전문기관에서 여러 번 쓴다</vt:lpstr>
      <vt:lpstr>법으로 구조를 풀고, 운영으로 2주내 데이터 활용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바이오데이터 활용 필요성과 개선 과제</dc:title>
  <dc:subject/>
  <dc:creator/>
  <cp:lastModifiedBy>남진우</cp:lastModifiedBy>
  <cp:revision>17</cp:revision>
  <cp:lastPrinted>2026-10-18T14:24:12Z</cp:lastPrinted>
  <dcterms:created xsi:type="dcterms:W3CDTF">2026-10-11T09:10:37Z</dcterms:created>
  <dcterms:modified xsi:type="dcterms:W3CDTF">2026-10-18T14:26:16Z</dcterms:modified>
</cp:coreProperties>
</file>